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21A8D408-97A3-606A-662D-ACD5BC8B6B96}">
          <p14:sldIdLst>
            <p14:sldId id="256"/>
            <p14:sldId id="257"/>
          </p14:sldIdLst>
        </p14:section>
        <p14:section name="System" id="{37B488E8-3313-B206-42F5-B0CB02281C9D}">
          <p14:sldIdLst>
            <p14:sldId id="258"/>
            <p14:sldId id="259"/>
          </p14:sldIdLst>
        </p14:section>
        <p14:section name="Evaluation" id="{19E7F46C-351E-F489-664F-A050D409531E}">
          <p14:sldIdLst>
            <p14:sldId id="260"/>
            <p14:sldId id="261"/>
          </p14:sldIdLst>
        </p14:section>
        <p14:section name="Outcome" id="{92E33CE4-5FD2-0E2E-058E-E03EB8EDF73F}">
          <p14:sldIdLst>
            <p14:sldId id="262"/>
            <p14:sldId id="263"/>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339387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PromptBench is a web platform that evaluates models, prompts, datasets and RAG responses in one place. The flow on the right is the whole idea: a prompt goes to models, responses are evaluated, and the results support a decision.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Models differ in quality, cost and latency, and manual review does not scale. RAG adds a new question: is the answer supported by the retrieved context? The three problem areas are quality, consistency and operations. OpenAI's evaluation guidance, NIST's generative AI risk work, and tools like Promptfoo and MLflow all point towards repeatable, task-specific evaluation.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 workflows are model comparison, prompt comparison, batch evaluation and RAG evaluation. They share the same loop: compare, evaluate, analyze, recommend. This is an integrated workflow combining existing techniques, not a claim of a new metric.</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user works through the web UI, which calls the API layer. The API layer routes to three components: model runner (external LLM APIs), evaluation engine (metrics and LLM judge) and RAG pipeline (retriever and context). Everything is stored in evaluation history, which later drives recommendations.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prompt-model pair produces a response. Evaluation combines four families of signals: reference-based metrics, a model-based judge, RAG grounding, and operational measurements. The point is that no single number decides the outcome.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Exact-match metrics miss meaning, so an LLM judge scores quality, relevance and factuality. Factuality uses a five-level scale from fully supported to contradicted. In RAG, the question is whether the answer is supported by the supplied context. Important caveat: judge scores are signals, and a judge that is also an evaluated model can be biased.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Recommendations come from evaluation history: quality, latency and cost feed a ranking. Best quality, fastest and best value are example categories with placeholder model names, not measured results. The validation on the right is a proposed experiment; no benchmark results are reported yet.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Limitations are stated openly: synchronous batches, provider dependence, judge bias, and no completed benchmark yet. Contribution, accurately stated: an integrated evaluation workflow combining model comparison, prompt comparison, batch evaluation, RAG grounding assessment, operational measurements, and history-based decision support. Then take questions.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B1220"/>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051560"/>
            <a:ext cx="5486400" cy="914400"/>
          </a:xfrm>
          <a:prstGeom prst="rect">
            <a:avLst/>
          </a:prstGeom>
          <a:noFill/>
          <a:ln/>
        </p:spPr>
        <p:txBody>
          <a:bodyPr wrap="square" rtlCol="0"/>
          <a:lstStyle>
            <a:lvl1pPr marL="0" indent="0" algn="l">
              <a:buNone/>
              <a:defRPr lang="en-US" sz="5400" b="1" dirty="0">
                <a:solidFill>
                  <a:schemeClr val="bg1"/>
                </a:solidFill>
              </a:defRPr>
            </a:lvl1pPr>
          </a:lstStyle>
          <a:p>
            <a:pPr marL="0" indent="0" algn="l">
              <a:buNone/>
            </a:pPr>
            <a:endParaRPr lang="en-US" sz="5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rgbClr val="F6F7FB"/>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548640"/>
          </a:xfrm>
          <a:prstGeom prst="rect">
            <a:avLst/>
          </a:prstGeom>
          <a:noFill/>
          <a:ln/>
        </p:spPr>
        <p:txBody>
          <a:bodyPr wrap="square" rtlCol="0"/>
          <a:lstStyle>
            <a:lvl1pPr marL="0" indent="0" algn="l">
              <a:buNone/>
              <a:defRPr lang="en-US" sz="2600" b="1" dirty="0">
                <a:solidFill>
                  <a:schemeClr val="tx1"/>
                </a:solidFill>
              </a:defRPr>
            </a:lvl1pPr>
          </a:lstStyle>
          <a:p>
            <a:pPr marL="0" indent="0" algn="l">
              <a:buNone/>
            </a:pPr>
            <a:endParaRPr lang="en-US" sz="2600" dirty="0"/>
          </a:p>
        </p:txBody>
      </p:sp>
      <p:sp>
        <p:nvSpPr>
          <p:cNvPr id="3" name="Text 0"/>
          <p:cNvSpPr/>
          <p:nvPr/>
        </p:nvSpPr>
        <p:spPr>
          <a:xfrm>
            <a:off x="457200" y="4818888"/>
            <a:ext cx="4572000" cy="228600"/>
          </a:xfrm>
          <a:prstGeom prst="rect">
            <a:avLst/>
          </a:prstGeom>
          <a:noFill/>
          <a:ln/>
        </p:spPr>
        <p:txBody>
          <a:bodyPr wrap="square" lIns="0" tIns="0" rIns="0" bIns="0" rtlCol="0" anchor="ctr"/>
          <a:lstStyle/>
          <a:p>
            <a:pPr marL="0" indent="0">
              <a:buNone/>
            </a:pPr>
            <a:r>
              <a:rPr lang="en-US" sz="900" dirty="0">
                <a:solidFill>
                  <a:srgbClr val="94A3B8"/>
                </a:solidFill>
              </a:rPr>
              <a:t>PromptBench  ·  KL University  ·  CSE</a:t>
            </a:r>
            <a:endParaRPr lang="en-US" sz="9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94A3B8"/>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94A3B8"/>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051560"/>
            <a:ext cx="5486400" cy="914400"/>
          </a:xfrm>
          <a:prstGeom prst="rect">
            <a:avLst/>
          </a:prstGeom>
          <a:noFill/>
          <a:ln/>
        </p:spPr>
        <p:txBody>
          <a:bodyPr wrap="square" lIns="0" tIns="0" rIns="0" bIns="0" rtlCol="0" anchor="ctr"/>
          <a:lstStyle/>
          <a:p>
            <a:pPr marL="0" indent="0" algn="l">
              <a:buNone/>
            </a:pPr>
            <a:r>
              <a:rPr lang="en-US" sz="5400" b="1" dirty="0">
                <a:solidFill>
                  <a:schemeClr val="bg1"/>
                </a:solidFill>
              </a:rPr>
              <a:t>PromptBench</a:t>
            </a:r>
            <a:endParaRPr lang="en-US" sz="5400" dirty="0"/>
          </a:p>
        </p:txBody>
      </p:sp>
      <p:sp>
        <p:nvSpPr>
          <p:cNvPr id="3" name="text-1"/>
          <p:cNvSpPr txBox="1"/>
          <p:nvPr/>
        </p:nvSpPr>
        <p:spPr>
          <a:xfrm>
            <a:off x="548640" y="2103120"/>
            <a:ext cx="5120640" cy="822960"/>
          </a:xfrm>
          <a:prstGeom prst="rect">
            <a:avLst/>
          </a:prstGeom>
          <a:noFill/>
          <a:ln/>
        </p:spPr>
        <p:txBody>
          <a:bodyPr wrap="square" lIns="0" tIns="0" rIns="0" bIns="0" rtlCol="0" anchor="t"/>
          <a:lstStyle/>
          <a:p>
            <a:r>
              <a:rPr lang="en-US" sz="2000" dirty="0">
                <a:solidFill>
                  <a:schemeClr val="tx1">
                    <a:lumMod val="25000"/>
                    <a:lumOff val="75000"/>
                  </a:schemeClr>
                </a:solidFill>
              </a:rPr>
              <a:t>A Smart Framework for Prompt Testing and Response Evaluation</a:t>
            </a:r>
          </a:p>
        </p:txBody>
      </p:sp>
      <p:sp>
        <p:nvSpPr>
          <p:cNvPr id="4" name="text-2"/>
          <p:cNvSpPr txBox="1"/>
          <p:nvPr/>
        </p:nvSpPr>
        <p:spPr>
          <a:xfrm>
            <a:off x="541606" y="3024554"/>
            <a:ext cx="4937760" cy="548640"/>
          </a:xfrm>
          <a:prstGeom prst="rect">
            <a:avLst/>
          </a:prstGeom>
          <a:noFill/>
          <a:ln/>
        </p:spPr>
        <p:txBody>
          <a:bodyPr wrap="square" lIns="0" tIns="0" rIns="0" bIns="0" rtlCol="0" anchor="t"/>
          <a:lstStyle/>
          <a:p>
            <a:r>
              <a:rPr lang="en-US" sz="1400" dirty="0">
                <a:solidFill>
                  <a:schemeClr val="tx1">
                    <a:lumMod val="25000"/>
                    <a:lumOff val="75000"/>
                  </a:schemeClr>
                </a:solidFill>
              </a:rPr>
              <a:t>                             P. Bindu — 2420090092 </a:t>
            </a:r>
          </a:p>
          <a:p>
            <a:r>
              <a:rPr lang="en-US" sz="1400" dirty="0">
                <a:solidFill>
                  <a:schemeClr val="tx1">
                    <a:lumMod val="25000"/>
                    <a:lumOff val="75000"/>
                  </a:schemeClr>
                </a:solidFill>
              </a:rPr>
              <a:t>                          K.  </a:t>
            </a:r>
            <a:r>
              <a:rPr lang="en-US" sz="1400" dirty="0" err="1">
                <a:solidFill>
                  <a:schemeClr val="tx1">
                    <a:lumMod val="25000"/>
                    <a:lumOff val="75000"/>
                  </a:schemeClr>
                </a:solidFill>
              </a:rPr>
              <a:t>Druvitha</a:t>
            </a:r>
            <a:r>
              <a:rPr lang="en-US" sz="1400" dirty="0">
                <a:solidFill>
                  <a:schemeClr val="tx1">
                    <a:lumMod val="25000"/>
                    <a:lumOff val="75000"/>
                  </a:schemeClr>
                </a:solidFill>
              </a:rPr>
              <a:t> — 2420030557 </a:t>
            </a:r>
          </a:p>
          <a:p>
            <a:r>
              <a:rPr lang="en-US" sz="1400" dirty="0">
                <a:solidFill>
                  <a:schemeClr val="tx1">
                    <a:lumMod val="25000"/>
                    <a:lumOff val="75000"/>
                  </a:schemeClr>
                </a:solidFill>
              </a:rPr>
              <a:t>                       B. Priyamvada — 2420030495</a:t>
            </a:r>
          </a:p>
          <a:p>
            <a:endParaRPr lang="en-US" sz="1400" dirty="0">
              <a:solidFill>
                <a:schemeClr val="tx1">
                  <a:lumMod val="25000"/>
                  <a:lumOff val="75000"/>
                </a:schemeClr>
              </a:solidFill>
            </a:endParaRPr>
          </a:p>
          <a:p>
            <a:r>
              <a:rPr lang="en-US" sz="1400" dirty="0">
                <a:solidFill>
                  <a:schemeClr val="tx1">
                    <a:lumMod val="25000"/>
                    <a:lumOff val="75000"/>
                  </a:schemeClr>
                </a:solidFill>
              </a:rPr>
              <a:t>                            </a:t>
            </a:r>
            <a:r>
              <a:rPr lang="en-US" sz="1400" dirty="0">
                <a:solidFill>
                  <a:schemeClr val="bg2"/>
                </a:solidFill>
              </a:rPr>
              <a:t>Under the guidance of</a:t>
            </a:r>
          </a:p>
          <a:p>
            <a:r>
              <a:rPr lang="en-US" sz="1400" dirty="0">
                <a:solidFill>
                  <a:schemeClr val="bg2"/>
                </a:solidFill>
              </a:rPr>
              <a:t>                                   P. SriLakshmi</a:t>
            </a:r>
          </a:p>
          <a:p>
            <a:endParaRPr lang="en-US" sz="1400" dirty="0">
              <a:solidFill>
                <a:schemeClr val="tx1">
                  <a:lumMod val="25000"/>
                  <a:lumOff val="75000"/>
                </a:schemeClr>
              </a:solidFill>
            </a:endParaRPr>
          </a:p>
          <a:p>
            <a:r>
              <a:rPr lang="en-US" sz="1400" dirty="0">
                <a:solidFill>
                  <a:schemeClr val="tx1">
                    <a:lumMod val="25000"/>
                    <a:lumOff val="75000"/>
                  </a:schemeClr>
                </a:solidFill>
              </a:rPr>
              <a:t> </a:t>
            </a:r>
            <a:endParaRPr lang="en-US" sz="1300" dirty="0">
              <a:solidFill>
                <a:schemeClr val="tx1">
                  <a:lumMod val="25000"/>
                  <a:lumOff val="75000"/>
                </a:schemeClr>
              </a:solidFill>
            </a:endParaRPr>
          </a:p>
        </p:txBody>
      </p:sp>
      <p:sp>
        <p:nvSpPr>
          <p:cNvPr id="7" name="box-5"/>
          <p:cNvSpPr txBox="1"/>
          <p:nvPr/>
        </p:nvSpPr>
        <p:spPr>
          <a:xfrm>
            <a:off x="6400800" y="822960"/>
            <a:ext cx="2194560" cy="548640"/>
          </a:xfrm>
          <a:prstGeom prst="roundRect">
            <a:avLst>
              <a:gd name="adj" fmla="val 10000"/>
            </a:avLst>
          </a:prstGeom>
          <a:solidFill>
            <a:srgbClr val="16233F"/>
          </a:solidFill>
          <a:ln w="19050">
            <a:solidFill>
              <a:srgbClr val="94A3B8"/>
            </a:solidFill>
            <a:prstDash val="solid"/>
          </a:ln>
        </p:spPr>
        <p:txBody>
          <a:bodyPr wrap="square" lIns="508" tIns="508" rIns="508" bIns="508" rtlCol="0" anchor="ctr"/>
          <a:lstStyle/>
          <a:p>
            <a:pPr marL="0" indent="0" algn="ctr">
              <a:buNone/>
            </a:pPr>
            <a:r>
              <a:rPr lang="en-US" sz="1400" b="1" dirty="0">
                <a:solidFill>
                  <a:schemeClr val="bg1"/>
                </a:solidFill>
              </a:rPr>
              <a:t>Prompt</a:t>
            </a:r>
            <a:endParaRPr lang="en-US" sz="1400" dirty="0"/>
          </a:p>
        </p:txBody>
      </p:sp>
      <p:sp>
        <p:nvSpPr>
          <p:cNvPr id="8" name="arrow-6"/>
          <p:cNvSpPr/>
          <p:nvPr/>
        </p:nvSpPr>
        <p:spPr>
          <a:xfrm>
            <a:off x="7498080" y="1371600"/>
            <a:ext cx="0" cy="320040"/>
          </a:xfrm>
          <a:prstGeom prst="line">
            <a:avLst/>
          </a:prstGeom>
          <a:noFill/>
          <a:ln w="15875">
            <a:solidFill>
              <a:srgbClr val="94A3B8"/>
            </a:solidFill>
            <a:prstDash val="solid"/>
            <a:tailEnd type="triangle"/>
          </a:ln>
        </p:spPr>
        <p:txBody>
          <a:bodyPr/>
          <a:lstStyle/>
          <a:p>
            <a:endParaRPr lang="en-US"/>
          </a:p>
        </p:txBody>
      </p:sp>
      <p:sp>
        <p:nvSpPr>
          <p:cNvPr id="9" name="box-7"/>
          <p:cNvSpPr txBox="1"/>
          <p:nvPr/>
        </p:nvSpPr>
        <p:spPr>
          <a:xfrm>
            <a:off x="6400800" y="1691640"/>
            <a:ext cx="2194560" cy="548640"/>
          </a:xfrm>
          <a:prstGeom prst="roundRect">
            <a:avLst>
              <a:gd name="adj" fmla="val 10000"/>
            </a:avLst>
          </a:prstGeom>
          <a:solidFill>
            <a:srgbClr val="16233F"/>
          </a:solidFill>
          <a:ln w="19050">
            <a:solidFill>
              <a:schemeClr val="accent1"/>
            </a:solidFill>
            <a:prstDash val="solid"/>
          </a:ln>
        </p:spPr>
        <p:txBody>
          <a:bodyPr wrap="square" lIns="508" tIns="508" rIns="508" bIns="508" rtlCol="0" anchor="ctr"/>
          <a:lstStyle/>
          <a:p>
            <a:pPr marL="0" indent="0" algn="ctr">
              <a:buNone/>
            </a:pPr>
            <a:r>
              <a:rPr lang="en-US" sz="1400" b="1" dirty="0">
                <a:solidFill>
                  <a:schemeClr val="bg1"/>
                </a:solidFill>
              </a:rPr>
              <a:t>Models</a:t>
            </a:r>
            <a:endParaRPr lang="en-US" sz="1400" dirty="0"/>
          </a:p>
        </p:txBody>
      </p:sp>
      <p:sp>
        <p:nvSpPr>
          <p:cNvPr id="10" name="arrow-8"/>
          <p:cNvSpPr/>
          <p:nvPr/>
        </p:nvSpPr>
        <p:spPr>
          <a:xfrm>
            <a:off x="7498080" y="2240280"/>
            <a:ext cx="0" cy="320040"/>
          </a:xfrm>
          <a:prstGeom prst="line">
            <a:avLst/>
          </a:prstGeom>
          <a:noFill/>
          <a:ln w="15875">
            <a:solidFill>
              <a:srgbClr val="94A3B8"/>
            </a:solidFill>
            <a:prstDash val="solid"/>
            <a:tailEnd type="triangle"/>
          </a:ln>
        </p:spPr>
        <p:txBody>
          <a:bodyPr/>
          <a:lstStyle/>
          <a:p>
            <a:endParaRPr lang="en-US"/>
          </a:p>
        </p:txBody>
      </p:sp>
      <p:sp>
        <p:nvSpPr>
          <p:cNvPr id="11" name="box-9"/>
          <p:cNvSpPr txBox="1"/>
          <p:nvPr/>
        </p:nvSpPr>
        <p:spPr>
          <a:xfrm>
            <a:off x="6400800" y="2560320"/>
            <a:ext cx="2194560" cy="548640"/>
          </a:xfrm>
          <a:prstGeom prst="roundRect">
            <a:avLst>
              <a:gd name="adj" fmla="val 10000"/>
            </a:avLst>
          </a:prstGeom>
          <a:solidFill>
            <a:srgbClr val="16233F"/>
          </a:solidFill>
          <a:ln w="19050">
            <a:solidFill>
              <a:schemeClr val="accent3"/>
            </a:solidFill>
            <a:prstDash val="solid"/>
          </a:ln>
        </p:spPr>
        <p:txBody>
          <a:bodyPr wrap="square" lIns="508" tIns="508" rIns="508" bIns="508" rtlCol="0" anchor="ctr"/>
          <a:lstStyle/>
          <a:p>
            <a:pPr marL="0" indent="0" algn="ctr">
              <a:buNone/>
            </a:pPr>
            <a:r>
              <a:rPr lang="en-US" sz="1400" b="1" dirty="0">
                <a:solidFill>
                  <a:schemeClr val="bg1"/>
                </a:solidFill>
              </a:rPr>
              <a:t>Evaluation</a:t>
            </a:r>
            <a:endParaRPr lang="en-US" sz="1400" dirty="0"/>
          </a:p>
        </p:txBody>
      </p:sp>
      <p:sp>
        <p:nvSpPr>
          <p:cNvPr id="12" name="arrow-10"/>
          <p:cNvSpPr/>
          <p:nvPr/>
        </p:nvSpPr>
        <p:spPr>
          <a:xfrm>
            <a:off x="7498080" y="3108960"/>
            <a:ext cx="0" cy="320040"/>
          </a:xfrm>
          <a:prstGeom prst="line">
            <a:avLst/>
          </a:prstGeom>
          <a:noFill/>
          <a:ln w="15875">
            <a:solidFill>
              <a:srgbClr val="94A3B8"/>
            </a:solidFill>
            <a:prstDash val="solid"/>
            <a:tailEnd type="triangle"/>
          </a:ln>
        </p:spPr>
        <p:txBody>
          <a:bodyPr/>
          <a:lstStyle/>
          <a:p>
            <a:endParaRPr lang="en-US"/>
          </a:p>
        </p:txBody>
      </p:sp>
      <p:sp>
        <p:nvSpPr>
          <p:cNvPr id="13" name="box-11"/>
          <p:cNvSpPr txBox="1"/>
          <p:nvPr/>
        </p:nvSpPr>
        <p:spPr>
          <a:xfrm>
            <a:off x="6400800" y="3429000"/>
            <a:ext cx="2194560" cy="548640"/>
          </a:xfrm>
          <a:prstGeom prst="roundRect">
            <a:avLst>
              <a:gd name="adj" fmla="val 10000"/>
            </a:avLst>
          </a:prstGeom>
          <a:solidFill>
            <a:srgbClr val="16233F"/>
          </a:solidFill>
          <a:ln w="19050">
            <a:solidFill>
              <a:schemeClr val="accent2"/>
            </a:solidFill>
            <a:prstDash val="solid"/>
          </a:ln>
        </p:spPr>
        <p:txBody>
          <a:bodyPr wrap="square" lIns="508" tIns="508" rIns="508" bIns="508" rtlCol="0" anchor="ctr"/>
          <a:lstStyle/>
          <a:p>
            <a:pPr marL="0" indent="0" algn="ctr">
              <a:buNone/>
            </a:pPr>
            <a:r>
              <a:rPr lang="en-US" sz="1400" b="1" dirty="0">
                <a:solidFill>
                  <a:schemeClr val="bg1"/>
                </a:solidFill>
              </a:rPr>
              <a:t>Decision</a:t>
            </a:r>
            <a:endParaRPr lang="en-US" sz="1400" dirty="0"/>
          </a:p>
        </p:txBody>
      </p:sp>
      <p:pic>
        <p:nvPicPr>
          <p:cNvPr id="15" name="Picture 14">
            <a:extLst>
              <a:ext uri="{FF2B5EF4-FFF2-40B4-BE49-F238E27FC236}">
                <a16:creationId xmlns:a16="http://schemas.microsoft.com/office/drawing/2014/main" id="{457B6030-CBE9-E1FC-81A3-FAB7335C861A}"/>
              </a:ext>
            </a:extLst>
          </p:cNvPr>
          <p:cNvPicPr>
            <a:picLocks noChangeAspect="1"/>
          </p:cNvPicPr>
          <p:nvPr/>
        </p:nvPicPr>
        <p:blipFill>
          <a:blip r:embed="rId3"/>
          <a:stretch>
            <a:fillRect/>
          </a:stretch>
        </p:blipFill>
        <p:spPr>
          <a:xfrm>
            <a:off x="70339" y="150887"/>
            <a:ext cx="1219306" cy="54106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548640"/>
          </a:xfrm>
          <a:prstGeom prst="rect">
            <a:avLst/>
          </a:prstGeom>
          <a:noFill/>
          <a:ln/>
        </p:spPr>
        <p:txBody>
          <a:bodyPr wrap="square" lIns="0" tIns="0" rIns="0" bIns="0" rtlCol="0" anchor="ctr"/>
          <a:lstStyle/>
          <a:p>
            <a:pPr marL="0" indent="0" algn="l">
              <a:buNone/>
            </a:pPr>
            <a:r>
              <a:rPr lang="en-US" sz="2600" b="1" dirty="0">
                <a:solidFill>
                  <a:schemeClr val="tx1"/>
                </a:solidFill>
              </a:rPr>
              <a:t>Why LLM Evaluation Is Difficult</a:t>
            </a:r>
            <a:endParaRPr lang="en-US" sz="2600" dirty="0"/>
          </a:p>
        </p:txBody>
      </p:sp>
      <p:sp>
        <p:nvSpPr>
          <p:cNvPr id="3" name="box-12"/>
          <p:cNvSpPr txBox="1"/>
          <p:nvPr/>
        </p:nvSpPr>
        <p:spPr>
          <a:xfrm>
            <a:off x="457200" y="1005840"/>
            <a:ext cx="3840480" cy="457200"/>
          </a:xfrm>
          <a:prstGeom prst="roundRect">
            <a:avLst>
              <a:gd name="adj" fmla="val 12000"/>
            </a:avLst>
          </a:prstGeom>
          <a:solidFill>
            <a:schemeClr val="bg1"/>
          </a:solidFill>
          <a:ln w="12700">
            <a:solidFill>
              <a:srgbClr val="D5DBE6"/>
            </a:solidFill>
            <a:prstDash val="solid"/>
          </a:ln>
        </p:spPr>
        <p:txBody>
          <a:bodyPr wrap="square" lIns="114300" tIns="25400" rIns="114300" bIns="25400" rtlCol="0" anchor="ctr"/>
          <a:lstStyle/>
          <a:p>
            <a:pPr marL="0" indent="0" algn="l">
              <a:buNone/>
            </a:pPr>
            <a:r>
              <a:rPr lang="en-US" sz="1300" dirty="0">
                <a:solidFill>
                  <a:schemeClr val="tx1"/>
                </a:solidFill>
              </a:rPr>
              <a:t>Different models</a:t>
            </a:r>
            <a:endParaRPr lang="en-US" sz="1300" dirty="0"/>
          </a:p>
        </p:txBody>
      </p:sp>
      <p:sp>
        <p:nvSpPr>
          <p:cNvPr id="4" name="arrow-13"/>
          <p:cNvSpPr/>
          <p:nvPr/>
        </p:nvSpPr>
        <p:spPr>
          <a:xfrm>
            <a:off x="2377440" y="1463040"/>
            <a:ext cx="0" cy="155448"/>
          </a:xfrm>
          <a:prstGeom prst="line">
            <a:avLst/>
          </a:prstGeom>
          <a:noFill/>
          <a:ln w="15875">
            <a:solidFill>
              <a:srgbClr val="94A3B8"/>
            </a:solidFill>
            <a:prstDash val="solid"/>
            <a:tailEnd type="triangle"/>
          </a:ln>
        </p:spPr>
        <p:txBody>
          <a:bodyPr/>
          <a:lstStyle/>
          <a:p>
            <a:endParaRPr lang="en-US"/>
          </a:p>
        </p:txBody>
      </p:sp>
      <p:sp>
        <p:nvSpPr>
          <p:cNvPr id="5" name="box-14"/>
          <p:cNvSpPr txBox="1"/>
          <p:nvPr/>
        </p:nvSpPr>
        <p:spPr>
          <a:xfrm>
            <a:off x="457200" y="1618488"/>
            <a:ext cx="3840480" cy="457200"/>
          </a:xfrm>
          <a:prstGeom prst="roundRect">
            <a:avLst>
              <a:gd name="adj" fmla="val 12000"/>
            </a:avLst>
          </a:prstGeom>
          <a:solidFill>
            <a:schemeClr val="bg1"/>
          </a:solidFill>
          <a:ln w="12700">
            <a:solidFill>
              <a:srgbClr val="D5DBE6"/>
            </a:solidFill>
            <a:prstDash val="solid"/>
          </a:ln>
        </p:spPr>
        <p:txBody>
          <a:bodyPr wrap="square" lIns="114300" tIns="25400" rIns="114300" bIns="25400" rtlCol="0" anchor="ctr"/>
          <a:lstStyle/>
          <a:p>
            <a:pPr marL="0" indent="0" algn="l">
              <a:buNone/>
            </a:pPr>
            <a:r>
              <a:rPr lang="en-US" sz="1300" dirty="0">
                <a:solidFill>
                  <a:schemeClr val="tx1"/>
                </a:solidFill>
              </a:rPr>
              <a:t>Different responses</a:t>
            </a:r>
            <a:endParaRPr lang="en-US" sz="1300" dirty="0"/>
          </a:p>
        </p:txBody>
      </p:sp>
      <p:sp>
        <p:nvSpPr>
          <p:cNvPr id="6" name="arrow-15"/>
          <p:cNvSpPr/>
          <p:nvPr/>
        </p:nvSpPr>
        <p:spPr>
          <a:xfrm>
            <a:off x="2377440" y="2075688"/>
            <a:ext cx="0" cy="155448"/>
          </a:xfrm>
          <a:prstGeom prst="line">
            <a:avLst/>
          </a:prstGeom>
          <a:noFill/>
          <a:ln w="15875">
            <a:solidFill>
              <a:srgbClr val="94A3B8"/>
            </a:solidFill>
            <a:prstDash val="solid"/>
            <a:tailEnd type="triangle"/>
          </a:ln>
        </p:spPr>
        <p:txBody>
          <a:bodyPr/>
          <a:lstStyle/>
          <a:p>
            <a:endParaRPr lang="en-US"/>
          </a:p>
        </p:txBody>
      </p:sp>
      <p:sp>
        <p:nvSpPr>
          <p:cNvPr id="7" name="box-16"/>
          <p:cNvSpPr txBox="1"/>
          <p:nvPr/>
        </p:nvSpPr>
        <p:spPr>
          <a:xfrm>
            <a:off x="457200" y="2231136"/>
            <a:ext cx="3840480" cy="457200"/>
          </a:xfrm>
          <a:prstGeom prst="roundRect">
            <a:avLst>
              <a:gd name="adj" fmla="val 12000"/>
            </a:avLst>
          </a:prstGeom>
          <a:solidFill>
            <a:schemeClr val="bg1"/>
          </a:solidFill>
          <a:ln w="12700">
            <a:solidFill>
              <a:srgbClr val="D5DBE6"/>
            </a:solidFill>
            <a:prstDash val="solid"/>
          </a:ln>
        </p:spPr>
        <p:txBody>
          <a:bodyPr wrap="square" lIns="114300" tIns="25400" rIns="114300" bIns="25400" rtlCol="0" anchor="ctr"/>
          <a:lstStyle/>
          <a:p>
            <a:pPr marL="0" indent="0" algn="l">
              <a:buNone/>
            </a:pPr>
            <a:r>
              <a:rPr lang="en-US" sz="1300" dirty="0">
                <a:solidFill>
                  <a:schemeClr val="tx1"/>
                </a:solidFill>
              </a:rPr>
              <a:t>Different quality / cost / latency</a:t>
            </a:r>
            <a:endParaRPr lang="en-US" sz="1300" dirty="0"/>
          </a:p>
        </p:txBody>
      </p:sp>
      <p:sp>
        <p:nvSpPr>
          <p:cNvPr id="8" name="arrow-17"/>
          <p:cNvSpPr/>
          <p:nvPr/>
        </p:nvSpPr>
        <p:spPr>
          <a:xfrm>
            <a:off x="2377440" y="2688336"/>
            <a:ext cx="0" cy="155448"/>
          </a:xfrm>
          <a:prstGeom prst="line">
            <a:avLst/>
          </a:prstGeom>
          <a:noFill/>
          <a:ln w="15875">
            <a:solidFill>
              <a:srgbClr val="94A3B8"/>
            </a:solidFill>
            <a:prstDash val="solid"/>
            <a:tailEnd type="triangle"/>
          </a:ln>
        </p:spPr>
        <p:txBody>
          <a:bodyPr/>
          <a:lstStyle/>
          <a:p>
            <a:endParaRPr lang="en-US"/>
          </a:p>
        </p:txBody>
      </p:sp>
      <p:sp>
        <p:nvSpPr>
          <p:cNvPr id="9" name="box-18"/>
          <p:cNvSpPr txBox="1"/>
          <p:nvPr/>
        </p:nvSpPr>
        <p:spPr>
          <a:xfrm>
            <a:off x="457200" y="2843784"/>
            <a:ext cx="3840480" cy="457200"/>
          </a:xfrm>
          <a:prstGeom prst="roundRect">
            <a:avLst>
              <a:gd name="adj" fmla="val 12000"/>
            </a:avLst>
          </a:prstGeom>
          <a:solidFill>
            <a:schemeClr val="bg1"/>
          </a:solidFill>
          <a:ln w="12700">
            <a:solidFill>
              <a:srgbClr val="D5DBE6"/>
            </a:solidFill>
            <a:prstDash val="solid"/>
          </a:ln>
        </p:spPr>
        <p:txBody>
          <a:bodyPr wrap="square" lIns="114300" tIns="25400" rIns="114300" bIns="25400" rtlCol="0" anchor="ctr"/>
          <a:lstStyle/>
          <a:p>
            <a:pPr marL="0" indent="0" algn="l">
              <a:buNone/>
            </a:pPr>
            <a:r>
              <a:rPr lang="en-US" sz="1300" b="1" dirty="0">
                <a:solidFill>
                  <a:schemeClr val="tx1"/>
                </a:solidFill>
              </a:rPr>
              <a:t>Manual evaluation becomes difficult</a:t>
            </a:r>
            <a:endParaRPr lang="en-US" sz="1300" dirty="0"/>
          </a:p>
        </p:txBody>
      </p:sp>
      <p:sp>
        <p:nvSpPr>
          <p:cNvPr id="10" name="arrow-19"/>
          <p:cNvSpPr/>
          <p:nvPr/>
        </p:nvSpPr>
        <p:spPr>
          <a:xfrm>
            <a:off x="2377440" y="3300984"/>
            <a:ext cx="0" cy="155448"/>
          </a:xfrm>
          <a:prstGeom prst="line">
            <a:avLst/>
          </a:prstGeom>
          <a:noFill/>
          <a:ln w="15875">
            <a:solidFill>
              <a:srgbClr val="94A3B8"/>
            </a:solidFill>
            <a:prstDash val="solid"/>
            <a:tailEnd type="triangle"/>
          </a:ln>
        </p:spPr>
        <p:txBody>
          <a:bodyPr/>
          <a:lstStyle/>
          <a:p>
            <a:endParaRPr lang="en-US"/>
          </a:p>
        </p:txBody>
      </p:sp>
      <p:sp>
        <p:nvSpPr>
          <p:cNvPr id="11" name="box-20"/>
          <p:cNvSpPr txBox="1"/>
          <p:nvPr/>
        </p:nvSpPr>
        <p:spPr>
          <a:xfrm>
            <a:off x="457200" y="3456432"/>
            <a:ext cx="3840480" cy="457200"/>
          </a:xfrm>
          <a:prstGeom prst="roundRect">
            <a:avLst>
              <a:gd name="adj" fmla="val 12000"/>
            </a:avLst>
          </a:prstGeom>
          <a:solidFill>
            <a:schemeClr val="bg1"/>
          </a:solidFill>
          <a:ln w="19050">
            <a:solidFill>
              <a:schemeClr val="accent4"/>
            </a:solidFill>
            <a:prstDash val="solid"/>
          </a:ln>
        </p:spPr>
        <p:txBody>
          <a:bodyPr wrap="square" lIns="114300" tIns="25400" rIns="114300" bIns="25400" rtlCol="0" anchor="ctr"/>
          <a:lstStyle/>
          <a:p>
            <a:pPr marL="0" indent="0" algn="l">
              <a:buNone/>
            </a:pPr>
            <a:r>
              <a:rPr lang="en-US" sz="1300" dirty="0">
                <a:solidFill>
                  <a:schemeClr val="tx1"/>
                </a:solidFill>
              </a:rPr>
              <a:t>RAG adds grounding concerns</a:t>
            </a:r>
            <a:endParaRPr lang="en-US" sz="1300" dirty="0"/>
          </a:p>
        </p:txBody>
      </p:sp>
      <p:sp>
        <p:nvSpPr>
          <p:cNvPr id="12" name="box-21"/>
          <p:cNvSpPr txBox="1"/>
          <p:nvPr/>
        </p:nvSpPr>
        <p:spPr>
          <a:xfrm>
            <a:off x="4663440" y="1005840"/>
            <a:ext cx="4023360" cy="868680"/>
          </a:xfrm>
          <a:prstGeom prst="roundRect">
            <a:avLst>
              <a:gd name="adj" fmla="val 6316"/>
            </a:avLst>
          </a:prstGeom>
          <a:solidFill>
            <a:schemeClr val="tx1"/>
          </a:solidFill>
          <a:ln w="12700">
            <a:solidFill>
              <a:schemeClr val="tx1"/>
            </a:solidFill>
            <a:prstDash val="solid"/>
          </a:ln>
        </p:spPr>
        <p:txBody>
          <a:bodyPr wrap="square" lIns="114300" tIns="25400" rIns="114300" bIns="25400" rtlCol="0" anchor="ctr"/>
          <a:lstStyle/>
          <a:p>
            <a:pPr marL="0" indent="0" algn="l">
              <a:buNone/>
            </a:pPr>
            <a:r>
              <a:rPr lang="en-US" sz="1500" b="1" dirty="0">
                <a:solidFill>
                  <a:schemeClr val="bg1"/>
                </a:solidFill>
              </a:rPr>
              <a:t>A fluent answer is not necessarily a correct or grounded answer.</a:t>
            </a:r>
            <a:endParaRPr lang="en-US" sz="1500" dirty="0"/>
          </a:p>
        </p:txBody>
      </p:sp>
      <p:sp>
        <p:nvSpPr>
          <p:cNvPr id="13" name="card-22"/>
          <p:cNvSpPr/>
          <p:nvPr/>
        </p:nvSpPr>
        <p:spPr>
          <a:xfrm>
            <a:off x="4663440" y="2057400"/>
            <a:ext cx="4023360" cy="548640"/>
          </a:xfrm>
          <a:prstGeom prst="roundRect">
            <a:avLst>
              <a:gd name="adj" fmla="val 10000"/>
            </a:avLst>
          </a:prstGeom>
          <a:solidFill>
            <a:schemeClr val="bg1"/>
          </a:solidFill>
          <a:ln w="12700">
            <a:solidFill>
              <a:srgbClr val="D5DBE6"/>
            </a:solidFill>
            <a:prstDash val="solid"/>
          </a:ln>
        </p:spPr>
        <p:txBody>
          <a:bodyPr/>
          <a:lstStyle/>
          <a:p>
            <a:endParaRPr lang="en-US"/>
          </a:p>
        </p:txBody>
      </p:sp>
      <p:sp>
        <p:nvSpPr>
          <p:cNvPr id="14" name="text-23"/>
          <p:cNvSpPr txBox="1"/>
          <p:nvPr/>
        </p:nvSpPr>
        <p:spPr>
          <a:xfrm>
            <a:off x="4800600" y="2057400"/>
            <a:ext cx="1188720" cy="548640"/>
          </a:xfrm>
          <a:prstGeom prst="rect">
            <a:avLst/>
          </a:prstGeom>
          <a:noFill/>
          <a:ln/>
        </p:spPr>
        <p:txBody>
          <a:bodyPr wrap="square" lIns="0" tIns="0" rIns="0" bIns="0" rtlCol="0" anchor="ctr"/>
          <a:lstStyle/>
          <a:p>
            <a:pPr marL="0" indent="0">
              <a:buNone/>
            </a:pPr>
            <a:r>
              <a:rPr lang="en-US" sz="1100" b="1" dirty="0">
                <a:solidFill>
                  <a:schemeClr val="tx2"/>
                </a:solidFill>
                <a:latin typeface="Courier New" pitchFamily="34" charset="0"/>
                <a:ea typeface="Courier New" pitchFamily="34" charset="-122"/>
                <a:cs typeface="Courier New" pitchFamily="34" charset="-120"/>
              </a:rPr>
              <a:t>QUALITY</a:t>
            </a:r>
            <a:endParaRPr lang="en-US" sz="1100" dirty="0"/>
          </a:p>
        </p:txBody>
      </p:sp>
      <p:sp>
        <p:nvSpPr>
          <p:cNvPr id="15" name="text-24"/>
          <p:cNvSpPr txBox="1"/>
          <p:nvPr/>
        </p:nvSpPr>
        <p:spPr>
          <a:xfrm>
            <a:off x="6035040" y="2057400"/>
            <a:ext cx="2514600" cy="548640"/>
          </a:xfrm>
          <a:prstGeom prst="rect">
            <a:avLst/>
          </a:prstGeom>
          <a:noFill/>
          <a:ln/>
        </p:spPr>
        <p:txBody>
          <a:bodyPr wrap="square" lIns="0" tIns="0" rIns="0" bIns="0" rtlCol="0" anchor="ctr"/>
          <a:lstStyle/>
          <a:p>
            <a:pPr marL="0" indent="0">
              <a:buNone/>
            </a:pPr>
            <a:r>
              <a:rPr lang="en-US" sz="1200" dirty="0">
                <a:solidFill>
                  <a:schemeClr val="tx1"/>
                </a:solidFill>
              </a:rPr>
              <a:t>Is the answer correct?</a:t>
            </a:r>
            <a:endParaRPr lang="en-US" sz="1200" dirty="0"/>
          </a:p>
        </p:txBody>
      </p:sp>
      <p:sp>
        <p:nvSpPr>
          <p:cNvPr id="16" name="card-25"/>
          <p:cNvSpPr/>
          <p:nvPr/>
        </p:nvSpPr>
        <p:spPr>
          <a:xfrm>
            <a:off x="4663440" y="2697480"/>
            <a:ext cx="4023360" cy="548640"/>
          </a:xfrm>
          <a:prstGeom prst="roundRect">
            <a:avLst>
              <a:gd name="adj" fmla="val 10000"/>
            </a:avLst>
          </a:prstGeom>
          <a:solidFill>
            <a:schemeClr val="bg1"/>
          </a:solidFill>
          <a:ln w="12700">
            <a:solidFill>
              <a:srgbClr val="D5DBE6"/>
            </a:solidFill>
            <a:prstDash val="solid"/>
          </a:ln>
        </p:spPr>
        <p:txBody>
          <a:bodyPr/>
          <a:lstStyle/>
          <a:p>
            <a:endParaRPr lang="en-US"/>
          </a:p>
        </p:txBody>
      </p:sp>
      <p:sp>
        <p:nvSpPr>
          <p:cNvPr id="17" name="text-26"/>
          <p:cNvSpPr txBox="1"/>
          <p:nvPr/>
        </p:nvSpPr>
        <p:spPr>
          <a:xfrm>
            <a:off x="4800600" y="2697480"/>
            <a:ext cx="1188720" cy="548640"/>
          </a:xfrm>
          <a:prstGeom prst="rect">
            <a:avLst/>
          </a:prstGeom>
          <a:noFill/>
          <a:ln/>
        </p:spPr>
        <p:txBody>
          <a:bodyPr wrap="square" lIns="0" tIns="0" rIns="0" bIns="0" rtlCol="0" anchor="ctr"/>
          <a:lstStyle/>
          <a:p>
            <a:pPr marL="0" indent="0">
              <a:buNone/>
            </a:pPr>
            <a:r>
              <a:rPr lang="en-US" sz="1100" b="1" dirty="0">
                <a:solidFill>
                  <a:schemeClr val="tx2"/>
                </a:solidFill>
                <a:latin typeface="Courier New" pitchFamily="34" charset="0"/>
                <a:ea typeface="Courier New" pitchFamily="34" charset="-122"/>
                <a:cs typeface="Courier New" pitchFamily="34" charset="-120"/>
              </a:rPr>
              <a:t>CONSISTENCY</a:t>
            </a:r>
            <a:endParaRPr lang="en-US" sz="1100" dirty="0"/>
          </a:p>
        </p:txBody>
      </p:sp>
      <p:sp>
        <p:nvSpPr>
          <p:cNvPr id="18" name="text-27"/>
          <p:cNvSpPr txBox="1"/>
          <p:nvPr/>
        </p:nvSpPr>
        <p:spPr>
          <a:xfrm>
            <a:off x="6035040" y="2697480"/>
            <a:ext cx="2514600" cy="548640"/>
          </a:xfrm>
          <a:prstGeom prst="rect">
            <a:avLst/>
          </a:prstGeom>
          <a:noFill/>
          <a:ln/>
        </p:spPr>
        <p:txBody>
          <a:bodyPr wrap="square" lIns="0" tIns="0" rIns="0" bIns="0" rtlCol="0" anchor="ctr"/>
          <a:lstStyle/>
          <a:p>
            <a:pPr marL="0" indent="0">
              <a:buNone/>
            </a:pPr>
            <a:r>
              <a:rPr lang="en-US" sz="1200" dirty="0">
                <a:solidFill>
                  <a:schemeClr val="tx1"/>
                </a:solidFill>
              </a:rPr>
              <a:t>Does performance remain reliable across inputs?</a:t>
            </a:r>
            <a:endParaRPr lang="en-US" sz="1200" dirty="0"/>
          </a:p>
        </p:txBody>
      </p:sp>
      <p:sp>
        <p:nvSpPr>
          <p:cNvPr id="19" name="card-28"/>
          <p:cNvSpPr/>
          <p:nvPr/>
        </p:nvSpPr>
        <p:spPr>
          <a:xfrm>
            <a:off x="4663440" y="3337560"/>
            <a:ext cx="4023360" cy="548640"/>
          </a:xfrm>
          <a:prstGeom prst="roundRect">
            <a:avLst>
              <a:gd name="adj" fmla="val 10000"/>
            </a:avLst>
          </a:prstGeom>
          <a:solidFill>
            <a:schemeClr val="bg1"/>
          </a:solidFill>
          <a:ln w="12700">
            <a:solidFill>
              <a:srgbClr val="D5DBE6"/>
            </a:solidFill>
            <a:prstDash val="solid"/>
          </a:ln>
        </p:spPr>
        <p:txBody>
          <a:bodyPr/>
          <a:lstStyle/>
          <a:p>
            <a:endParaRPr lang="en-US"/>
          </a:p>
        </p:txBody>
      </p:sp>
      <p:sp>
        <p:nvSpPr>
          <p:cNvPr id="20" name="text-29"/>
          <p:cNvSpPr txBox="1"/>
          <p:nvPr/>
        </p:nvSpPr>
        <p:spPr>
          <a:xfrm>
            <a:off x="4800600" y="3337560"/>
            <a:ext cx="1188720" cy="548640"/>
          </a:xfrm>
          <a:prstGeom prst="rect">
            <a:avLst/>
          </a:prstGeom>
          <a:noFill/>
          <a:ln/>
        </p:spPr>
        <p:txBody>
          <a:bodyPr wrap="square" lIns="0" tIns="0" rIns="0" bIns="0" rtlCol="0" anchor="ctr"/>
          <a:lstStyle/>
          <a:p>
            <a:pPr marL="0" indent="0">
              <a:buNone/>
            </a:pPr>
            <a:r>
              <a:rPr lang="en-US" sz="1100" b="1" dirty="0">
                <a:solidFill>
                  <a:schemeClr val="tx2"/>
                </a:solidFill>
                <a:latin typeface="Courier New" pitchFamily="34" charset="0"/>
                <a:ea typeface="Courier New" pitchFamily="34" charset="-122"/>
                <a:cs typeface="Courier New" pitchFamily="34" charset="-120"/>
              </a:rPr>
              <a:t>OPERATIONS</a:t>
            </a:r>
            <a:endParaRPr lang="en-US" sz="1100" dirty="0"/>
          </a:p>
        </p:txBody>
      </p:sp>
      <p:sp>
        <p:nvSpPr>
          <p:cNvPr id="21" name="text-30"/>
          <p:cNvSpPr txBox="1"/>
          <p:nvPr/>
        </p:nvSpPr>
        <p:spPr>
          <a:xfrm>
            <a:off x="6035040" y="3337560"/>
            <a:ext cx="2514600" cy="548640"/>
          </a:xfrm>
          <a:prstGeom prst="rect">
            <a:avLst/>
          </a:prstGeom>
          <a:noFill/>
          <a:ln/>
        </p:spPr>
        <p:txBody>
          <a:bodyPr wrap="square" lIns="0" tIns="0" rIns="0" bIns="0" rtlCol="0" anchor="ctr"/>
          <a:lstStyle/>
          <a:p>
            <a:pPr marL="0" indent="0">
              <a:buNone/>
            </a:pPr>
            <a:r>
              <a:rPr lang="en-US" sz="1200" dirty="0">
                <a:solidFill>
                  <a:schemeClr val="tx1"/>
                </a:solidFill>
              </a:rPr>
              <a:t>What are the latency, token, and cost trade-offs?</a:t>
            </a:r>
            <a:endParaRPr lang="en-US" sz="1200" dirty="0"/>
          </a:p>
        </p:txBody>
      </p:sp>
      <p:sp>
        <p:nvSpPr>
          <p:cNvPr id="22" name="text-31"/>
          <p:cNvSpPr txBox="1"/>
          <p:nvPr/>
        </p:nvSpPr>
        <p:spPr>
          <a:xfrm>
            <a:off x="457200" y="4114800"/>
            <a:ext cx="8229600" cy="320040"/>
          </a:xfrm>
          <a:prstGeom prst="rect">
            <a:avLst/>
          </a:prstGeom>
          <a:noFill/>
          <a:ln/>
        </p:spPr>
        <p:txBody>
          <a:bodyPr wrap="square" lIns="0" tIns="0" rIns="0" bIns="0" rtlCol="0" anchor="t"/>
          <a:lstStyle/>
          <a:p>
            <a:pPr marL="0" indent="0">
              <a:buNone/>
            </a:pPr>
            <a:r>
              <a:rPr lang="en-US" sz="1500" b="1" dirty="0">
                <a:solidFill>
                  <a:schemeClr val="accent1"/>
                </a:solidFill>
              </a:rPr>
              <a:t>LLM evaluation should be repeatable, task-specific, and multi-dimensional.</a:t>
            </a:r>
            <a:endParaRPr lang="en-US" sz="1500" dirty="0"/>
          </a:p>
        </p:txBody>
      </p:sp>
      <p:sp>
        <p:nvSpPr>
          <p:cNvPr id="23" name="text-32"/>
          <p:cNvSpPr txBox="1"/>
          <p:nvPr/>
        </p:nvSpPr>
        <p:spPr>
          <a:xfrm>
            <a:off x="457200" y="4480560"/>
            <a:ext cx="8229600" cy="228600"/>
          </a:xfrm>
          <a:prstGeom prst="rect">
            <a:avLst/>
          </a:prstGeom>
          <a:noFill/>
          <a:ln/>
        </p:spPr>
        <p:txBody>
          <a:bodyPr wrap="square" lIns="0" tIns="0" rIns="0" bIns="0" rtlCol="0" anchor="t"/>
          <a:lstStyle/>
          <a:p>
            <a:pPr marL="0" indent="0">
              <a:buNone/>
            </a:pPr>
            <a:r>
              <a:rPr lang="en-US" sz="1050" dirty="0">
                <a:solidFill>
                  <a:schemeClr val="accent5"/>
                </a:solidFill>
              </a:rPr>
              <a:t>Motivated by: OpenAI evaluation guidance  ·  NIST generative AI risk profile  ·  Promptfoo / MLflow tooling</a:t>
            </a:r>
            <a:endParaRPr lang="en-US" sz="105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94A3B8"/>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548640"/>
          </a:xfrm>
          <a:prstGeom prst="rect">
            <a:avLst/>
          </a:prstGeom>
          <a:noFill/>
          <a:ln/>
        </p:spPr>
        <p:txBody>
          <a:bodyPr wrap="square" lIns="0" tIns="0" rIns="0" bIns="0" rtlCol="0" anchor="ctr"/>
          <a:lstStyle/>
          <a:p>
            <a:pPr marL="0" indent="0" algn="l">
              <a:buNone/>
            </a:pPr>
            <a:r>
              <a:rPr lang="en-US" sz="2600" b="1" dirty="0">
                <a:solidFill>
                  <a:schemeClr val="tx1"/>
                </a:solidFill>
              </a:rPr>
              <a:t>Introducing PromptBench</a:t>
            </a:r>
            <a:endParaRPr lang="en-US" sz="2600" dirty="0"/>
          </a:p>
        </p:txBody>
      </p:sp>
      <p:sp>
        <p:nvSpPr>
          <p:cNvPr id="3" name="text-33"/>
          <p:cNvSpPr txBox="1"/>
          <p:nvPr/>
        </p:nvSpPr>
        <p:spPr>
          <a:xfrm>
            <a:off x="457200" y="841248"/>
            <a:ext cx="8229600" cy="274320"/>
          </a:xfrm>
          <a:prstGeom prst="rect">
            <a:avLst/>
          </a:prstGeom>
          <a:noFill/>
          <a:ln/>
        </p:spPr>
        <p:txBody>
          <a:bodyPr wrap="square" lIns="0" tIns="0" rIns="0" bIns="0" rtlCol="0" anchor="t"/>
          <a:lstStyle/>
          <a:p>
            <a:pPr marL="0" indent="0">
              <a:buNone/>
            </a:pPr>
            <a:r>
              <a:rPr lang="en-US" sz="1300" dirty="0">
                <a:solidFill>
                  <a:schemeClr val="accent5"/>
                </a:solidFill>
              </a:rPr>
              <a:t>One web application with four evaluation workflows</a:t>
            </a:r>
            <a:endParaRPr lang="en-US" sz="1300" dirty="0"/>
          </a:p>
        </p:txBody>
      </p:sp>
      <p:sp>
        <p:nvSpPr>
          <p:cNvPr id="4" name="card-34"/>
          <p:cNvSpPr/>
          <p:nvPr/>
        </p:nvSpPr>
        <p:spPr>
          <a:xfrm>
            <a:off x="457200" y="1280160"/>
            <a:ext cx="1920240" cy="2514600"/>
          </a:xfrm>
          <a:prstGeom prst="roundRect">
            <a:avLst>
              <a:gd name="adj" fmla="val 2857"/>
            </a:avLst>
          </a:prstGeom>
          <a:solidFill>
            <a:schemeClr val="bg1"/>
          </a:solidFill>
          <a:ln w="19050">
            <a:solidFill>
              <a:schemeClr val="accent1"/>
            </a:solidFill>
            <a:prstDash val="solid"/>
          </a:ln>
        </p:spPr>
        <p:txBody>
          <a:bodyPr/>
          <a:lstStyle/>
          <a:p>
            <a:endParaRPr lang="en-US"/>
          </a:p>
        </p:txBody>
      </p:sp>
      <p:sp>
        <p:nvSpPr>
          <p:cNvPr id="5" name="text-35"/>
          <p:cNvSpPr txBox="1"/>
          <p:nvPr/>
        </p:nvSpPr>
        <p:spPr>
          <a:xfrm>
            <a:off x="594360" y="1389888"/>
            <a:ext cx="914400" cy="201168"/>
          </a:xfrm>
          <a:prstGeom prst="rect">
            <a:avLst/>
          </a:prstGeom>
          <a:noFill/>
          <a:ln/>
        </p:spPr>
        <p:txBody>
          <a:bodyPr wrap="square" lIns="0" tIns="0" rIns="0" bIns="0" rtlCol="0" anchor="t"/>
          <a:lstStyle/>
          <a:p>
            <a:pPr marL="0" indent="0">
              <a:buNone/>
            </a:pPr>
            <a:r>
              <a:rPr lang="en-US" sz="1100" b="1" dirty="0">
                <a:solidFill>
                  <a:schemeClr val="accent1"/>
                </a:solidFill>
                <a:latin typeface="Courier New" pitchFamily="34" charset="0"/>
                <a:ea typeface="Courier New" pitchFamily="34" charset="-122"/>
                <a:cs typeface="Courier New" pitchFamily="34" charset="-120"/>
              </a:rPr>
              <a:t>01</a:t>
            </a:r>
            <a:endParaRPr lang="en-US" sz="1100" dirty="0"/>
          </a:p>
        </p:txBody>
      </p:sp>
      <p:sp>
        <p:nvSpPr>
          <p:cNvPr id="6" name="text-36"/>
          <p:cNvSpPr txBox="1"/>
          <p:nvPr/>
        </p:nvSpPr>
        <p:spPr>
          <a:xfrm>
            <a:off x="594360" y="1609344"/>
            <a:ext cx="1691640" cy="274320"/>
          </a:xfrm>
          <a:prstGeom prst="rect">
            <a:avLst/>
          </a:prstGeom>
          <a:noFill/>
          <a:ln/>
        </p:spPr>
        <p:txBody>
          <a:bodyPr wrap="square" lIns="0" tIns="0" rIns="0" bIns="0" rtlCol="0" anchor="t"/>
          <a:lstStyle/>
          <a:p>
            <a:pPr marL="0" indent="0">
              <a:buNone/>
            </a:pPr>
            <a:r>
              <a:rPr lang="en-US" sz="1400" b="1" dirty="0">
                <a:solidFill>
                  <a:schemeClr val="tx1"/>
                </a:solidFill>
              </a:rPr>
              <a:t>Model Comparison</a:t>
            </a:r>
            <a:endParaRPr lang="en-US" sz="1400" dirty="0"/>
          </a:p>
        </p:txBody>
      </p:sp>
      <p:sp>
        <p:nvSpPr>
          <p:cNvPr id="7" name="text-37"/>
          <p:cNvSpPr txBox="1"/>
          <p:nvPr/>
        </p:nvSpPr>
        <p:spPr>
          <a:xfrm>
            <a:off x="594360" y="1938528"/>
            <a:ext cx="1645920" cy="594360"/>
          </a:xfrm>
          <a:prstGeom prst="rect">
            <a:avLst/>
          </a:prstGeom>
          <a:noFill/>
          <a:ln/>
        </p:spPr>
        <p:txBody>
          <a:bodyPr wrap="square" lIns="0" tIns="0" rIns="0" bIns="0" rtlCol="0" anchor="t"/>
          <a:lstStyle/>
          <a:p>
            <a:pPr marL="0" indent="0">
              <a:buNone/>
            </a:pPr>
            <a:r>
              <a:rPr lang="en-US" sz="1150" dirty="0">
                <a:solidFill>
                  <a:schemeClr val="tx2"/>
                </a:solidFill>
              </a:rPr>
              <a:t>Run the same prompt across multiple language models.</a:t>
            </a:r>
            <a:endParaRPr lang="en-US" sz="1150" dirty="0"/>
          </a:p>
        </p:txBody>
      </p:sp>
      <p:sp>
        <p:nvSpPr>
          <p:cNvPr id="8" name="box-38"/>
          <p:cNvSpPr txBox="1"/>
          <p:nvPr/>
        </p:nvSpPr>
        <p:spPr>
          <a:xfrm>
            <a:off x="594360" y="2651760"/>
            <a:ext cx="1645920" cy="228600"/>
          </a:xfrm>
          <a:prstGeom prst="roundRect">
            <a:avLst>
              <a:gd name="adj" fmla="val 24000"/>
            </a:avLst>
          </a:prstGeom>
          <a:solidFill>
            <a:srgbClr val="EEF2F8"/>
          </a:solidFill>
          <a:ln w="12700">
            <a:solidFill>
              <a:srgbClr val="EEF2F8"/>
            </a:solidFill>
            <a:prstDash val="solid"/>
          </a:ln>
        </p:spPr>
        <p:txBody>
          <a:bodyPr wrap="square" lIns="114300" tIns="25400" rIns="114300" bIns="25400" rtlCol="0" anchor="ctr"/>
          <a:lstStyle/>
          <a:p>
            <a:pPr marL="0" indent="0" algn="l">
              <a:buNone/>
            </a:pPr>
            <a:r>
              <a:rPr lang="en-US" sz="1000" dirty="0">
                <a:solidFill>
                  <a:schemeClr val="tx1"/>
                </a:solidFill>
                <a:latin typeface="Courier New" pitchFamily="34" charset="0"/>
                <a:ea typeface="Courier New" pitchFamily="34" charset="-122"/>
                <a:cs typeface="Courier New" pitchFamily="34" charset="-120"/>
              </a:rPr>
              <a:t>Quality</a:t>
            </a:r>
            <a:endParaRPr lang="en-US" sz="1000" dirty="0"/>
          </a:p>
        </p:txBody>
      </p:sp>
      <p:sp>
        <p:nvSpPr>
          <p:cNvPr id="9" name="box-39"/>
          <p:cNvSpPr txBox="1"/>
          <p:nvPr/>
        </p:nvSpPr>
        <p:spPr>
          <a:xfrm>
            <a:off x="594360" y="2926080"/>
            <a:ext cx="1645920" cy="228600"/>
          </a:xfrm>
          <a:prstGeom prst="roundRect">
            <a:avLst>
              <a:gd name="adj" fmla="val 24000"/>
            </a:avLst>
          </a:prstGeom>
          <a:solidFill>
            <a:srgbClr val="EEF2F8"/>
          </a:solidFill>
          <a:ln w="12700">
            <a:solidFill>
              <a:srgbClr val="EEF2F8"/>
            </a:solidFill>
            <a:prstDash val="solid"/>
          </a:ln>
        </p:spPr>
        <p:txBody>
          <a:bodyPr wrap="square" lIns="114300" tIns="25400" rIns="114300" bIns="25400" rtlCol="0" anchor="ctr"/>
          <a:lstStyle/>
          <a:p>
            <a:pPr marL="0" indent="0" algn="l">
              <a:buNone/>
            </a:pPr>
            <a:r>
              <a:rPr lang="en-US" sz="1000" dirty="0">
                <a:solidFill>
                  <a:schemeClr val="tx1"/>
                </a:solidFill>
                <a:latin typeface="Courier New" pitchFamily="34" charset="0"/>
                <a:ea typeface="Courier New" pitchFamily="34" charset="-122"/>
                <a:cs typeface="Courier New" pitchFamily="34" charset="-120"/>
              </a:rPr>
              <a:t>Latency</a:t>
            </a:r>
            <a:endParaRPr lang="en-US" sz="1000" dirty="0"/>
          </a:p>
        </p:txBody>
      </p:sp>
      <p:sp>
        <p:nvSpPr>
          <p:cNvPr id="10" name="box-40"/>
          <p:cNvSpPr txBox="1"/>
          <p:nvPr/>
        </p:nvSpPr>
        <p:spPr>
          <a:xfrm>
            <a:off x="594360" y="3200400"/>
            <a:ext cx="1645920" cy="228600"/>
          </a:xfrm>
          <a:prstGeom prst="roundRect">
            <a:avLst>
              <a:gd name="adj" fmla="val 24000"/>
            </a:avLst>
          </a:prstGeom>
          <a:solidFill>
            <a:srgbClr val="EEF2F8"/>
          </a:solidFill>
          <a:ln w="12700">
            <a:solidFill>
              <a:srgbClr val="EEF2F8"/>
            </a:solidFill>
            <a:prstDash val="solid"/>
          </a:ln>
        </p:spPr>
        <p:txBody>
          <a:bodyPr wrap="square" lIns="114300" tIns="25400" rIns="114300" bIns="25400" rtlCol="0" anchor="ctr"/>
          <a:lstStyle/>
          <a:p>
            <a:pPr marL="0" indent="0" algn="l">
              <a:buNone/>
            </a:pPr>
            <a:r>
              <a:rPr lang="en-US" sz="1000" dirty="0">
                <a:solidFill>
                  <a:schemeClr val="tx1"/>
                </a:solidFill>
                <a:latin typeface="Courier New" pitchFamily="34" charset="0"/>
                <a:ea typeface="Courier New" pitchFamily="34" charset="-122"/>
                <a:cs typeface="Courier New" pitchFamily="34" charset="-120"/>
              </a:rPr>
              <a:t>Token Usage</a:t>
            </a:r>
            <a:endParaRPr lang="en-US" sz="1000" dirty="0"/>
          </a:p>
        </p:txBody>
      </p:sp>
      <p:sp>
        <p:nvSpPr>
          <p:cNvPr id="11" name="box-41"/>
          <p:cNvSpPr txBox="1"/>
          <p:nvPr/>
        </p:nvSpPr>
        <p:spPr>
          <a:xfrm>
            <a:off x="594360" y="3474720"/>
            <a:ext cx="1645920" cy="228600"/>
          </a:xfrm>
          <a:prstGeom prst="roundRect">
            <a:avLst>
              <a:gd name="adj" fmla="val 24000"/>
            </a:avLst>
          </a:prstGeom>
          <a:solidFill>
            <a:srgbClr val="EEF2F8"/>
          </a:solidFill>
          <a:ln w="12700">
            <a:solidFill>
              <a:srgbClr val="EEF2F8"/>
            </a:solidFill>
            <a:prstDash val="solid"/>
          </a:ln>
        </p:spPr>
        <p:txBody>
          <a:bodyPr wrap="square" lIns="114300" tIns="25400" rIns="114300" bIns="25400" rtlCol="0" anchor="ctr"/>
          <a:lstStyle/>
          <a:p>
            <a:pPr marL="0" indent="0" algn="l">
              <a:buNone/>
            </a:pPr>
            <a:r>
              <a:rPr lang="en-US" sz="1000" dirty="0">
                <a:solidFill>
                  <a:schemeClr val="tx1"/>
                </a:solidFill>
                <a:latin typeface="Courier New" pitchFamily="34" charset="0"/>
                <a:ea typeface="Courier New" pitchFamily="34" charset="-122"/>
                <a:cs typeface="Courier New" pitchFamily="34" charset="-120"/>
              </a:rPr>
              <a:t>Estimated Cost</a:t>
            </a:r>
            <a:endParaRPr lang="en-US" sz="1000" dirty="0"/>
          </a:p>
        </p:txBody>
      </p:sp>
      <p:sp>
        <p:nvSpPr>
          <p:cNvPr id="12" name="card-42"/>
          <p:cNvSpPr/>
          <p:nvPr/>
        </p:nvSpPr>
        <p:spPr>
          <a:xfrm>
            <a:off x="2560320" y="1280160"/>
            <a:ext cx="1920240" cy="2514600"/>
          </a:xfrm>
          <a:prstGeom prst="roundRect">
            <a:avLst>
              <a:gd name="adj" fmla="val 2857"/>
            </a:avLst>
          </a:prstGeom>
          <a:solidFill>
            <a:schemeClr val="bg1"/>
          </a:solidFill>
          <a:ln w="19050">
            <a:solidFill>
              <a:schemeClr val="accent2"/>
            </a:solidFill>
            <a:prstDash val="solid"/>
          </a:ln>
        </p:spPr>
        <p:txBody>
          <a:bodyPr/>
          <a:lstStyle/>
          <a:p>
            <a:endParaRPr lang="en-US"/>
          </a:p>
        </p:txBody>
      </p:sp>
      <p:sp>
        <p:nvSpPr>
          <p:cNvPr id="13" name="text-43"/>
          <p:cNvSpPr txBox="1"/>
          <p:nvPr/>
        </p:nvSpPr>
        <p:spPr>
          <a:xfrm>
            <a:off x="2697480" y="1389888"/>
            <a:ext cx="914400" cy="201168"/>
          </a:xfrm>
          <a:prstGeom prst="rect">
            <a:avLst/>
          </a:prstGeom>
          <a:noFill/>
          <a:ln/>
        </p:spPr>
        <p:txBody>
          <a:bodyPr wrap="square" lIns="0" tIns="0" rIns="0" bIns="0" rtlCol="0" anchor="t"/>
          <a:lstStyle/>
          <a:p>
            <a:pPr marL="0" indent="0">
              <a:buNone/>
            </a:pPr>
            <a:r>
              <a:rPr lang="en-US" sz="1100" b="1" dirty="0">
                <a:solidFill>
                  <a:schemeClr val="accent2"/>
                </a:solidFill>
                <a:latin typeface="Courier New" pitchFamily="34" charset="0"/>
                <a:ea typeface="Courier New" pitchFamily="34" charset="-122"/>
                <a:cs typeface="Courier New" pitchFamily="34" charset="-120"/>
              </a:rPr>
              <a:t>02</a:t>
            </a:r>
            <a:endParaRPr lang="en-US" sz="1100" dirty="0"/>
          </a:p>
        </p:txBody>
      </p:sp>
      <p:sp>
        <p:nvSpPr>
          <p:cNvPr id="14" name="text-44"/>
          <p:cNvSpPr txBox="1"/>
          <p:nvPr/>
        </p:nvSpPr>
        <p:spPr>
          <a:xfrm>
            <a:off x="2697480" y="1609344"/>
            <a:ext cx="1691640" cy="274320"/>
          </a:xfrm>
          <a:prstGeom prst="rect">
            <a:avLst/>
          </a:prstGeom>
          <a:noFill/>
          <a:ln/>
        </p:spPr>
        <p:txBody>
          <a:bodyPr wrap="square" lIns="0" tIns="0" rIns="0" bIns="0" rtlCol="0" anchor="t"/>
          <a:lstStyle/>
          <a:p>
            <a:pPr marL="0" indent="0">
              <a:buNone/>
            </a:pPr>
            <a:r>
              <a:rPr lang="en-US" sz="1400" b="1" dirty="0">
                <a:solidFill>
                  <a:schemeClr val="tx1"/>
                </a:solidFill>
              </a:rPr>
              <a:t>Prompt Comparison</a:t>
            </a:r>
            <a:endParaRPr lang="en-US" sz="1400" dirty="0"/>
          </a:p>
        </p:txBody>
      </p:sp>
      <p:sp>
        <p:nvSpPr>
          <p:cNvPr id="15" name="text-45"/>
          <p:cNvSpPr txBox="1"/>
          <p:nvPr/>
        </p:nvSpPr>
        <p:spPr>
          <a:xfrm>
            <a:off x="2697480" y="1938528"/>
            <a:ext cx="1645920" cy="594360"/>
          </a:xfrm>
          <a:prstGeom prst="rect">
            <a:avLst/>
          </a:prstGeom>
          <a:noFill/>
          <a:ln/>
        </p:spPr>
        <p:txBody>
          <a:bodyPr wrap="square" lIns="0" tIns="0" rIns="0" bIns="0" rtlCol="0" anchor="t"/>
          <a:lstStyle/>
          <a:p>
            <a:pPr marL="0" indent="0">
              <a:buNone/>
            </a:pPr>
            <a:r>
              <a:rPr lang="en-US" sz="1150" dirty="0">
                <a:solidFill>
                  <a:schemeClr val="tx2"/>
                </a:solidFill>
              </a:rPr>
              <a:t>Two prompt versions, same models. Measure the effect of the change.</a:t>
            </a:r>
            <a:endParaRPr lang="en-US" sz="1150" dirty="0"/>
          </a:p>
        </p:txBody>
      </p:sp>
      <p:sp>
        <p:nvSpPr>
          <p:cNvPr id="16" name="box-46"/>
          <p:cNvSpPr txBox="1"/>
          <p:nvPr/>
        </p:nvSpPr>
        <p:spPr>
          <a:xfrm>
            <a:off x="2697480" y="2651760"/>
            <a:ext cx="1645920" cy="228600"/>
          </a:xfrm>
          <a:prstGeom prst="roundRect">
            <a:avLst>
              <a:gd name="adj" fmla="val 24000"/>
            </a:avLst>
          </a:prstGeom>
          <a:solidFill>
            <a:srgbClr val="EEF2F8"/>
          </a:solidFill>
          <a:ln w="12700">
            <a:solidFill>
              <a:srgbClr val="EEF2F8"/>
            </a:solidFill>
            <a:prstDash val="solid"/>
          </a:ln>
        </p:spPr>
        <p:txBody>
          <a:bodyPr wrap="square" lIns="114300" tIns="25400" rIns="114300" bIns="25400" rtlCol="0" anchor="ctr"/>
          <a:lstStyle/>
          <a:p>
            <a:pPr marL="0" indent="0" algn="l">
              <a:buNone/>
            </a:pPr>
            <a:r>
              <a:rPr lang="en-US" sz="1000" dirty="0">
                <a:solidFill>
                  <a:schemeClr val="tx1"/>
                </a:solidFill>
                <a:latin typeface="Courier New" pitchFamily="34" charset="0"/>
                <a:ea typeface="Courier New" pitchFamily="34" charset="-122"/>
                <a:cs typeface="Courier New" pitchFamily="34" charset="-120"/>
              </a:rPr>
              <a:t>Prompt v1</a:t>
            </a:r>
            <a:endParaRPr lang="en-US" sz="1000" dirty="0"/>
          </a:p>
        </p:txBody>
      </p:sp>
      <p:sp>
        <p:nvSpPr>
          <p:cNvPr id="17" name="box-47"/>
          <p:cNvSpPr txBox="1"/>
          <p:nvPr/>
        </p:nvSpPr>
        <p:spPr>
          <a:xfrm>
            <a:off x="2697480" y="2926080"/>
            <a:ext cx="1645920" cy="228600"/>
          </a:xfrm>
          <a:prstGeom prst="roundRect">
            <a:avLst>
              <a:gd name="adj" fmla="val 24000"/>
            </a:avLst>
          </a:prstGeom>
          <a:solidFill>
            <a:srgbClr val="EEF2F8"/>
          </a:solidFill>
          <a:ln w="12700">
            <a:solidFill>
              <a:srgbClr val="EEF2F8"/>
            </a:solidFill>
            <a:prstDash val="solid"/>
          </a:ln>
        </p:spPr>
        <p:txBody>
          <a:bodyPr wrap="square" lIns="114300" tIns="25400" rIns="114300" bIns="25400" rtlCol="0" anchor="ctr"/>
          <a:lstStyle/>
          <a:p>
            <a:pPr marL="0" indent="0" algn="l">
              <a:buNone/>
            </a:pPr>
            <a:r>
              <a:rPr lang="en-US" sz="1000" dirty="0">
                <a:solidFill>
                  <a:schemeClr val="tx1"/>
                </a:solidFill>
                <a:latin typeface="Courier New" pitchFamily="34" charset="0"/>
                <a:ea typeface="Courier New" pitchFamily="34" charset="-122"/>
                <a:cs typeface="Courier New" pitchFamily="34" charset="-120"/>
              </a:rPr>
              <a:t>Prompt v2</a:t>
            </a:r>
            <a:endParaRPr lang="en-US" sz="1000" dirty="0"/>
          </a:p>
        </p:txBody>
      </p:sp>
      <p:sp>
        <p:nvSpPr>
          <p:cNvPr id="18" name="box-48"/>
          <p:cNvSpPr txBox="1"/>
          <p:nvPr/>
        </p:nvSpPr>
        <p:spPr>
          <a:xfrm>
            <a:off x="2697480" y="3200400"/>
            <a:ext cx="1645920" cy="228600"/>
          </a:xfrm>
          <a:prstGeom prst="roundRect">
            <a:avLst>
              <a:gd name="adj" fmla="val 24000"/>
            </a:avLst>
          </a:prstGeom>
          <a:solidFill>
            <a:srgbClr val="EEF2F8"/>
          </a:solidFill>
          <a:ln w="12700">
            <a:solidFill>
              <a:srgbClr val="EEF2F8"/>
            </a:solidFill>
            <a:prstDash val="solid"/>
          </a:ln>
        </p:spPr>
        <p:txBody>
          <a:bodyPr wrap="square" lIns="114300" tIns="25400" rIns="114300" bIns="25400" rtlCol="0" anchor="ctr"/>
          <a:lstStyle/>
          <a:p>
            <a:pPr marL="0" indent="0" algn="l">
              <a:buNone/>
            </a:pPr>
            <a:r>
              <a:rPr lang="en-US" sz="1000" dirty="0">
                <a:solidFill>
                  <a:schemeClr val="tx1"/>
                </a:solidFill>
                <a:latin typeface="Courier New" pitchFamily="34" charset="0"/>
                <a:ea typeface="Courier New" pitchFamily="34" charset="-122"/>
                <a:cs typeface="Courier New" pitchFamily="34" charset="-120"/>
              </a:rPr>
              <a:t>Effect of change</a:t>
            </a:r>
            <a:endParaRPr lang="en-US" sz="1000" dirty="0"/>
          </a:p>
        </p:txBody>
      </p:sp>
      <p:sp>
        <p:nvSpPr>
          <p:cNvPr id="19" name="card-49"/>
          <p:cNvSpPr/>
          <p:nvPr/>
        </p:nvSpPr>
        <p:spPr>
          <a:xfrm>
            <a:off x="4663440" y="1280160"/>
            <a:ext cx="1920240" cy="2514600"/>
          </a:xfrm>
          <a:prstGeom prst="roundRect">
            <a:avLst>
              <a:gd name="adj" fmla="val 2857"/>
            </a:avLst>
          </a:prstGeom>
          <a:solidFill>
            <a:schemeClr val="bg1"/>
          </a:solidFill>
          <a:ln w="19050">
            <a:solidFill>
              <a:schemeClr val="accent5"/>
            </a:solidFill>
            <a:prstDash val="solid"/>
          </a:ln>
        </p:spPr>
        <p:txBody>
          <a:bodyPr/>
          <a:lstStyle/>
          <a:p>
            <a:endParaRPr lang="en-US"/>
          </a:p>
        </p:txBody>
      </p:sp>
      <p:sp>
        <p:nvSpPr>
          <p:cNvPr id="20" name="text-50"/>
          <p:cNvSpPr txBox="1"/>
          <p:nvPr/>
        </p:nvSpPr>
        <p:spPr>
          <a:xfrm>
            <a:off x="4800600" y="1389888"/>
            <a:ext cx="914400" cy="201168"/>
          </a:xfrm>
          <a:prstGeom prst="rect">
            <a:avLst/>
          </a:prstGeom>
          <a:noFill/>
          <a:ln/>
        </p:spPr>
        <p:txBody>
          <a:bodyPr wrap="square" lIns="0" tIns="0" rIns="0" bIns="0" rtlCol="0" anchor="t"/>
          <a:lstStyle/>
          <a:p>
            <a:pPr marL="0" indent="0">
              <a:buNone/>
            </a:pPr>
            <a:r>
              <a:rPr lang="en-US" sz="1100" b="1" dirty="0">
                <a:solidFill>
                  <a:schemeClr val="accent5"/>
                </a:solidFill>
                <a:latin typeface="Courier New" pitchFamily="34" charset="0"/>
                <a:ea typeface="Courier New" pitchFamily="34" charset="-122"/>
                <a:cs typeface="Courier New" pitchFamily="34" charset="-120"/>
              </a:rPr>
              <a:t>03</a:t>
            </a:r>
            <a:endParaRPr lang="en-US" sz="1100" dirty="0"/>
          </a:p>
        </p:txBody>
      </p:sp>
      <p:sp>
        <p:nvSpPr>
          <p:cNvPr id="21" name="text-51"/>
          <p:cNvSpPr txBox="1"/>
          <p:nvPr/>
        </p:nvSpPr>
        <p:spPr>
          <a:xfrm>
            <a:off x="4800600" y="1609344"/>
            <a:ext cx="1691640" cy="274320"/>
          </a:xfrm>
          <a:prstGeom prst="rect">
            <a:avLst/>
          </a:prstGeom>
          <a:noFill/>
          <a:ln/>
        </p:spPr>
        <p:txBody>
          <a:bodyPr wrap="square" lIns="0" tIns="0" rIns="0" bIns="0" rtlCol="0" anchor="t"/>
          <a:lstStyle/>
          <a:p>
            <a:pPr marL="0" indent="0">
              <a:buNone/>
            </a:pPr>
            <a:r>
              <a:rPr lang="en-US" sz="1400" b="1" dirty="0">
                <a:solidFill>
                  <a:schemeClr val="tx1"/>
                </a:solidFill>
              </a:rPr>
              <a:t>Batch Evaluation</a:t>
            </a:r>
            <a:endParaRPr lang="en-US" sz="1400" dirty="0"/>
          </a:p>
        </p:txBody>
      </p:sp>
      <p:sp>
        <p:nvSpPr>
          <p:cNvPr id="22" name="text-52"/>
          <p:cNvSpPr txBox="1"/>
          <p:nvPr/>
        </p:nvSpPr>
        <p:spPr>
          <a:xfrm>
            <a:off x="4800600" y="1938528"/>
            <a:ext cx="1645920" cy="594360"/>
          </a:xfrm>
          <a:prstGeom prst="rect">
            <a:avLst/>
          </a:prstGeom>
          <a:noFill/>
          <a:ln/>
        </p:spPr>
        <p:txBody>
          <a:bodyPr wrap="square" lIns="0" tIns="0" rIns="0" bIns="0" rtlCol="0" anchor="t"/>
          <a:lstStyle/>
          <a:p>
            <a:pPr marL="0" indent="0">
              <a:buNone/>
            </a:pPr>
            <a:r>
              <a:rPr lang="en-US" sz="1150" dirty="0">
                <a:solidFill>
                  <a:schemeClr val="tx2"/>
                </a:solidFill>
              </a:rPr>
              <a:t>Run a dataset of questions through selected models.</a:t>
            </a:r>
            <a:endParaRPr lang="en-US" sz="1150" dirty="0"/>
          </a:p>
        </p:txBody>
      </p:sp>
      <p:sp>
        <p:nvSpPr>
          <p:cNvPr id="23" name="box-53"/>
          <p:cNvSpPr txBox="1"/>
          <p:nvPr/>
        </p:nvSpPr>
        <p:spPr>
          <a:xfrm>
            <a:off x="4800600" y="2651760"/>
            <a:ext cx="1645920" cy="228600"/>
          </a:xfrm>
          <a:prstGeom prst="roundRect">
            <a:avLst>
              <a:gd name="adj" fmla="val 24000"/>
            </a:avLst>
          </a:prstGeom>
          <a:solidFill>
            <a:srgbClr val="EEF2F8"/>
          </a:solidFill>
          <a:ln w="12700">
            <a:solidFill>
              <a:srgbClr val="EEF2F8"/>
            </a:solidFill>
            <a:prstDash val="solid"/>
          </a:ln>
        </p:spPr>
        <p:txBody>
          <a:bodyPr wrap="square" lIns="114300" tIns="25400" rIns="114300" bIns="25400" rtlCol="0" anchor="ctr"/>
          <a:lstStyle/>
          <a:p>
            <a:pPr marL="0" indent="0" algn="l">
              <a:buNone/>
            </a:pPr>
            <a:r>
              <a:rPr lang="en-US" sz="1000" dirty="0">
                <a:solidFill>
                  <a:schemeClr val="tx1"/>
                </a:solidFill>
                <a:latin typeface="Courier New" pitchFamily="34" charset="0"/>
                <a:ea typeface="Courier New" pitchFamily="34" charset="-122"/>
                <a:cs typeface="Courier New" pitchFamily="34" charset="-120"/>
              </a:rPr>
              <a:t>Exact Match</a:t>
            </a:r>
            <a:endParaRPr lang="en-US" sz="1000" dirty="0"/>
          </a:p>
        </p:txBody>
      </p:sp>
      <p:sp>
        <p:nvSpPr>
          <p:cNvPr id="24" name="box-54"/>
          <p:cNvSpPr txBox="1"/>
          <p:nvPr/>
        </p:nvSpPr>
        <p:spPr>
          <a:xfrm>
            <a:off x="4800600" y="2926080"/>
            <a:ext cx="1645920" cy="228600"/>
          </a:xfrm>
          <a:prstGeom prst="roundRect">
            <a:avLst>
              <a:gd name="adj" fmla="val 24000"/>
            </a:avLst>
          </a:prstGeom>
          <a:solidFill>
            <a:srgbClr val="EEF2F8"/>
          </a:solidFill>
          <a:ln w="12700">
            <a:solidFill>
              <a:srgbClr val="EEF2F8"/>
            </a:solidFill>
            <a:prstDash val="solid"/>
          </a:ln>
        </p:spPr>
        <p:txBody>
          <a:bodyPr wrap="square" lIns="114300" tIns="25400" rIns="114300" bIns="25400" rtlCol="0" anchor="ctr"/>
          <a:lstStyle/>
          <a:p>
            <a:pPr marL="0" indent="0" algn="l">
              <a:buNone/>
            </a:pPr>
            <a:r>
              <a:rPr lang="en-US" sz="1000" dirty="0">
                <a:solidFill>
                  <a:schemeClr val="tx1"/>
                </a:solidFill>
                <a:latin typeface="Courier New" pitchFamily="34" charset="0"/>
                <a:ea typeface="Courier New" pitchFamily="34" charset="-122"/>
                <a:cs typeface="Courier New" pitchFamily="34" charset="-120"/>
              </a:rPr>
              <a:t>ROUGE-L</a:t>
            </a:r>
            <a:endParaRPr lang="en-US" sz="1000" dirty="0"/>
          </a:p>
        </p:txBody>
      </p:sp>
      <p:sp>
        <p:nvSpPr>
          <p:cNvPr id="25" name="box-55"/>
          <p:cNvSpPr txBox="1"/>
          <p:nvPr/>
        </p:nvSpPr>
        <p:spPr>
          <a:xfrm>
            <a:off x="4800600" y="3200400"/>
            <a:ext cx="1645920" cy="228600"/>
          </a:xfrm>
          <a:prstGeom prst="roundRect">
            <a:avLst>
              <a:gd name="adj" fmla="val 24000"/>
            </a:avLst>
          </a:prstGeom>
          <a:solidFill>
            <a:srgbClr val="EEF2F8"/>
          </a:solidFill>
          <a:ln w="12700">
            <a:solidFill>
              <a:srgbClr val="EEF2F8"/>
            </a:solidFill>
            <a:prstDash val="solid"/>
          </a:ln>
        </p:spPr>
        <p:txBody>
          <a:bodyPr wrap="square" lIns="114300" tIns="25400" rIns="114300" bIns="25400" rtlCol="0" anchor="ctr"/>
          <a:lstStyle/>
          <a:p>
            <a:pPr marL="0" indent="0" algn="l">
              <a:buNone/>
            </a:pPr>
            <a:r>
              <a:rPr lang="en-US" sz="1000" dirty="0">
                <a:solidFill>
                  <a:schemeClr val="tx1"/>
                </a:solidFill>
                <a:latin typeface="Courier New" pitchFamily="34" charset="0"/>
                <a:ea typeface="Courier New" pitchFamily="34" charset="-122"/>
                <a:cs typeface="Courier New" pitchFamily="34" charset="-120"/>
              </a:rPr>
              <a:t>BLEU</a:t>
            </a:r>
            <a:endParaRPr lang="en-US" sz="1000" dirty="0"/>
          </a:p>
        </p:txBody>
      </p:sp>
      <p:sp>
        <p:nvSpPr>
          <p:cNvPr id="26" name="card-56"/>
          <p:cNvSpPr/>
          <p:nvPr/>
        </p:nvSpPr>
        <p:spPr>
          <a:xfrm>
            <a:off x="6766560" y="1280160"/>
            <a:ext cx="1920240" cy="2514600"/>
          </a:xfrm>
          <a:prstGeom prst="roundRect">
            <a:avLst>
              <a:gd name="adj" fmla="val 2857"/>
            </a:avLst>
          </a:prstGeom>
          <a:solidFill>
            <a:schemeClr val="bg1"/>
          </a:solidFill>
          <a:ln w="19050">
            <a:solidFill>
              <a:schemeClr val="accent4"/>
            </a:solidFill>
            <a:prstDash val="solid"/>
          </a:ln>
        </p:spPr>
        <p:txBody>
          <a:bodyPr/>
          <a:lstStyle/>
          <a:p>
            <a:endParaRPr lang="en-US"/>
          </a:p>
        </p:txBody>
      </p:sp>
      <p:sp>
        <p:nvSpPr>
          <p:cNvPr id="27" name="text-57"/>
          <p:cNvSpPr txBox="1"/>
          <p:nvPr/>
        </p:nvSpPr>
        <p:spPr>
          <a:xfrm>
            <a:off x="6903720" y="1389888"/>
            <a:ext cx="914400" cy="201168"/>
          </a:xfrm>
          <a:prstGeom prst="rect">
            <a:avLst/>
          </a:prstGeom>
          <a:noFill/>
          <a:ln/>
        </p:spPr>
        <p:txBody>
          <a:bodyPr wrap="square" lIns="0" tIns="0" rIns="0" bIns="0" rtlCol="0" anchor="t"/>
          <a:lstStyle/>
          <a:p>
            <a:pPr marL="0" indent="0">
              <a:buNone/>
            </a:pPr>
            <a:r>
              <a:rPr lang="en-US" sz="1100" b="1" dirty="0">
                <a:solidFill>
                  <a:schemeClr val="accent4"/>
                </a:solidFill>
                <a:latin typeface="Courier New" pitchFamily="34" charset="0"/>
                <a:ea typeface="Courier New" pitchFamily="34" charset="-122"/>
                <a:cs typeface="Courier New" pitchFamily="34" charset="-120"/>
              </a:rPr>
              <a:t>04</a:t>
            </a:r>
            <a:endParaRPr lang="en-US" sz="1100" dirty="0"/>
          </a:p>
        </p:txBody>
      </p:sp>
      <p:sp>
        <p:nvSpPr>
          <p:cNvPr id="28" name="text-58"/>
          <p:cNvSpPr txBox="1"/>
          <p:nvPr/>
        </p:nvSpPr>
        <p:spPr>
          <a:xfrm>
            <a:off x="6903720" y="1609344"/>
            <a:ext cx="1691640" cy="274320"/>
          </a:xfrm>
          <a:prstGeom prst="rect">
            <a:avLst/>
          </a:prstGeom>
          <a:noFill/>
          <a:ln/>
        </p:spPr>
        <p:txBody>
          <a:bodyPr wrap="square" lIns="0" tIns="0" rIns="0" bIns="0" rtlCol="0" anchor="t"/>
          <a:lstStyle/>
          <a:p>
            <a:pPr marL="0" indent="0">
              <a:buNone/>
            </a:pPr>
            <a:r>
              <a:rPr lang="en-US" sz="1400" b="1" dirty="0">
                <a:solidFill>
                  <a:schemeClr val="tx1"/>
                </a:solidFill>
              </a:rPr>
              <a:t>RAG Evaluation</a:t>
            </a:r>
            <a:endParaRPr lang="en-US" sz="1400" dirty="0"/>
          </a:p>
        </p:txBody>
      </p:sp>
      <p:sp>
        <p:nvSpPr>
          <p:cNvPr id="29" name="text-59"/>
          <p:cNvSpPr txBox="1"/>
          <p:nvPr/>
        </p:nvSpPr>
        <p:spPr>
          <a:xfrm>
            <a:off x="6903720" y="1938528"/>
            <a:ext cx="1645920" cy="594360"/>
          </a:xfrm>
          <a:prstGeom prst="rect">
            <a:avLst/>
          </a:prstGeom>
          <a:noFill/>
          <a:ln/>
        </p:spPr>
        <p:txBody>
          <a:bodyPr wrap="square" lIns="0" tIns="0" rIns="0" bIns="0" rtlCol="0" anchor="t"/>
          <a:lstStyle/>
          <a:p>
            <a:pPr marL="0" indent="0">
              <a:buNone/>
            </a:pPr>
            <a:r>
              <a:rPr lang="en-US" sz="1150" dirty="0">
                <a:solidFill>
                  <a:schemeClr val="tx2"/>
                </a:solidFill>
              </a:rPr>
              <a:t>Assess whether answers are supported by retrieved context.</a:t>
            </a:r>
            <a:endParaRPr lang="en-US" sz="1150" dirty="0"/>
          </a:p>
        </p:txBody>
      </p:sp>
      <p:sp>
        <p:nvSpPr>
          <p:cNvPr id="30" name="box-60"/>
          <p:cNvSpPr txBox="1"/>
          <p:nvPr/>
        </p:nvSpPr>
        <p:spPr>
          <a:xfrm>
            <a:off x="6903720" y="2651760"/>
            <a:ext cx="1645920" cy="228600"/>
          </a:xfrm>
          <a:prstGeom prst="roundRect">
            <a:avLst>
              <a:gd name="adj" fmla="val 24000"/>
            </a:avLst>
          </a:prstGeom>
          <a:solidFill>
            <a:srgbClr val="EEF2F8"/>
          </a:solidFill>
          <a:ln w="12700">
            <a:solidFill>
              <a:srgbClr val="EEF2F8"/>
            </a:solidFill>
            <a:prstDash val="solid"/>
          </a:ln>
        </p:spPr>
        <p:txBody>
          <a:bodyPr wrap="square" lIns="114300" tIns="25400" rIns="114300" bIns="25400" rtlCol="0" anchor="ctr"/>
          <a:lstStyle/>
          <a:p>
            <a:pPr marL="0" indent="0" algn="l">
              <a:buNone/>
            </a:pPr>
            <a:r>
              <a:rPr lang="en-US" sz="1000" dirty="0">
                <a:solidFill>
                  <a:schemeClr val="tx1"/>
                </a:solidFill>
                <a:latin typeface="Courier New" pitchFamily="34" charset="0"/>
                <a:ea typeface="Courier New" pitchFamily="34" charset="-122"/>
                <a:cs typeface="Courier New" pitchFamily="34" charset="-120"/>
              </a:rPr>
              <a:t>Retrieved context</a:t>
            </a:r>
            <a:endParaRPr lang="en-US" sz="1000" dirty="0"/>
          </a:p>
        </p:txBody>
      </p:sp>
      <p:sp>
        <p:nvSpPr>
          <p:cNvPr id="31" name="box-61"/>
          <p:cNvSpPr txBox="1"/>
          <p:nvPr/>
        </p:nvSpPr>
        <p:spPr>
          <a:xfrm>
            <a:off x="6903720" y="2926080"/>
            <a:ext cx="1645920" cy="228600"/>
          </a:xfrm>
          <a:prstGeom prst="roundRect">
            <a:avLst>
              <a:gd name="adj" fmla="val 24000"/>
            </a:avLst>
          </a:prstGeom>
          <a:solidFill>
            <a:srgbClr val="EEF2F8"/>
          </a:solidFill>
          <a:ln w="12700">
            <a:solidFill>
              <a:srgbClr val="EEF2F8"/>
            </a:solidFill>
            <a:prstDash val="solid"/>
          </a:ln>
        </p:spPr>
        <p:txBody>
          <a:bodyPr wrap="square" lIns="114300" tIns="25400" rIns="114300" bIns="25400" rtlCol="0" anchor="ctr"/>
          <a:lstStyle/>
          <a:p>
            <a:pPr marL="0" indent="0" algn="l">
              <a:buNone/>
            </a:pPr>
            <a:r>
              <a:rPr lang="en-US" sz="1000" dirty="0">
                <a:solidFill>
                  <a:schemeClr val="tx1"/>
                </a:solidFill>
                <a:latin typeface="Courier New" pitchFamily="34" charset="0"/>
                <a:ea typeface="Courier New" pitchFamily="34" charset="-122"/>
                <a:cs typeface="Courier New" pitchFamily="34" charset="-120"/>
              </a:rPr>
              <a:t>Generated answer</a:t>
            </a:r>
            <a:endParaRPr lang="en-US" sz="1000" dirty="0"/>
          </a:p>
        </p:txBody>
      </p:sp>
      <p:sp>
        <p:nvSpPr>
          <p:cNvPr id="32" name="box-62"/>
          <p:cNvSpPr txBox="1"/>
          <p:nvPr/>
        </p:nvSpPr>
        <p:spPr>
          <a:xfrm>
            <a:off x="6903720" y="3200400"/>
            <a:ext cx="1645920" cy="228600"/>
          </a:xfrm>
          <a:prstGeom prst="roundRect">
            <a:avLst>
              <a:gd name="adj" fmla="val 24000"/>
            </a:avLst>
          </a:prstGeom>
          <a:solidFill>
            <a:srgbClr val="EEF2F8"/>
          </a:solidFill>
          <a:ln w="12700">
            <a:solidFill>
              <a:srgbClr val="EEF2F8"/>
            </a:solidFill>
            <a:prstDash val="solid"/>
          </a:ln>
        </p:spPr>
        <p:txBody>
          <a:bodyPr wrap="square" lIns="114300" tIns="25400" rIns="114300" bIns="25400" rtlCol="0" anchor="ctr"/>
          <a:lstStyle/>
          <a:p>
            <a:pPr marL="0" indent="0" algn="l">
              <a:buNone/>
            </a:pPr>
            <a:r>
              <a:rPr lang="en-US" sz="1000" dirty="0">
                <a:solidFill>
                  <a:schemeClr val="tx1"/>
                </a:solidFill>
                <a:latin typeface="Courier New" pitchFamily="34" charset="0"/>
                <a:ea typeface="Courier New" pitchFamily="34" charset="-122"/>
                <a:cs typeface="Courier New" pitchFamily="34" charset="-120"/>
              </a:rPr>
              <a:t>Grounding check</a:t>
            </a:r>
            <a:endParaRPr lang="en-US" sz="1000" dirty="0"/>
          </a:p>
        </p:txBody>
      </p:sp>
      <p:sp>
        <p:nvSpPr>
          <p:cNvPr id="33" name="box-63"/>
          <p:cNvSpPr txBox="1"/>
          <p:nvPr/>
        </p:nvSpPr>
        <p:spPr>
          <a:xfrm>
            <a:off x="914400" y="4114800"/>
            <a:ext cx="1554480" cy="365760"/>
          </a:xfrm>
          <a:prstGeom prst="roundRect">
            <a:avLst>
              <a:gd name="adj" fmla="val 15000"/>
            </a:avLst>
          </a:prstGeom>
          <a:solidFill>
            <a:schemeClr val="tx1"/>
          </a:solidFill>
          <a:ln w="12700">
            <a:solidFill>
              <a:schemeClr val="tx1"/>
            </a:solidFill>
            <a:prstDash val="solid"/>
          </a:ln>
        </p:spPr>
        <p:txBody>
          <a:bodyPr wrap="square" lIns="508" tIns="508" rIns="508" bIns="508" rtlCol="0" anchor="ctr"/>
          <a:lstStyle/>
          <a:p>
            <a:pPr marL="0" indent="0" algn="ctr">
              <a:buNone/>
            </a:pPr>
            <a:r>
              <a:rPr lang="en-US" sz="1300" b="1" dirty="0">
                <a:solidFill>
                  <a:schemeClr val="bg1"/>
                </a:solidFill>
              </a:rPr>
              <a:t>Compare</a:t>
            </a:r>
            <a:endParaRPr lang="en-US" sz="1300" dirty="0"/>
          </a:p>
        </p:txBody>
      </p:sp>
      <p:sp>
        <p:nvSpPr>
          <p:cNvPr id="34" name="arrow-64"/>
          <p:cNvSpPr/>
          <p:nvPr/>
        </p:nvSpPr>
        <p:spPr>
          <a:xfrm>
            <a:off x="2468880" y="4297680"/>
            <a:ext cx="365760" cy="0"/>
          </a:xfrm>
          <a:prstGeom prst="line">
            <a:avLst/>
          </a:prstGeom>
          <a:noFill/>
          <a:ln w="15875">
            <a:solidFill>
              <a:srgbClr val="94A3B8"/>
            </a:solidFill>
            <a:prstDash val="solid"/>
            <a:tailEnd type="triangle"/>
          </a:ln>
        </p:spPr>
        <p:txBody>
          <a:bodyPr/>
          <a:lstStyle/>
          <a:p>
            <a:endParaRPr lang="en-US"/>
          </a:p>
        </p:txBody>
      </p:sp>
      <p:sp>
        <p:nvSpPr>
          <p:cNvPr id="35" name="box-65"/>
          <p:cNvSpPr txBox="1"/>
          <p:nvPr/>
        </p:nvSpPr>
        <p:spPr>
          <a:xfrm>
            <a:off x="2834640" y="4114800"/>
            <a:ext cx="1554480" cy="365760"/>
          </a:xfrm>
          <a:prstGeom prst="roundRect">
            <a:avLst>
              <a:gd name="adj" fmla="val 15000"/>
            </a:avLst>
          </a:prstGeom>
          <a:solidFill>
            <a:schemeClr val="tx1"/>
          </a:solidFill>
          <a:ln w="12700">
            <a:solidFill>
              <a:schemeClr val="tx1"/>
            </a:solidFill>
            <a:prstDash val="solid"/>
          </a:ln>
        </p:spPr>
        <p:txBody>
          <a:bodyPr wrap="square" lIns="508" tIns="508" rIns="508" bIns="508" rtlCol="0" anchor="ctr"/>
          <a:lstStyle/>
          <a:p>
            <a:pPr marL="0" indent="0" algn="ctr">
              <a:buNone/>
            </a:pPr>
            <a:r>
              <a:rPr lang="en-US" sz="1300" b="1" dirty="0">
                <a:solidFill>
                  <a:schemeClr val="bg1"/>
                </a:solidFill>
              </a:rPr>
              <a:t>Evaluate</a:t>
            </a:r>
            <a:endParaRPr lang="en-US" sz="1300" dirty="0"/>
          </a:p>
        </p:txBody>
      </p:sp>
      <p:sp>
        <p:nvSpPr>
          <p:cNvPr id="36" name="arrow-66"/>
          <p:cNvSpPr/>
          <p:nvPr/>
        </p:nvSpPr>
        <p:spPr>
          <a:xfrm>
            <a:off x="4389120" y="4297680"/>
            <a:ext cx="365760" cy="0"/>
          </a:xfrm>
          <a:prstGeom prst="line">
            <a:avLst/>
          </a:prstGeom>
          <a:noFill/>
          <a:ln w="15875">
            <a:solidFill>
              <a:srgbClr val="94A3B8"/>
            </a:solidFill>
            <a:prstDash val="solid"/>
            <a:tailEnd type="triangle"/>
          </a:ln>
        </p:spPr>
        <p:txBody>
          <a:bodyPr/>
          <a:lstStyle/>
          <a:p>
            <a:endParaRPr lang="en-US"/>
          </a:p>
        </p:txBody>
      </p:sp>
      <p:sp>
        <p:nvSpPr>
          <p:cNvPr id="37" name="box-67"/>
          <p:cNvSpPr txBox="1"/>
          <p:nvPr/>
        </p:nvSpPr>
        <p:spPr>
          <a:xfrm>
            <a:off x="4754880" y="4114800"/>
            <a:ext cx="1554480" cy="365760"/>
          </a:xfrm>
          <a:prstGeom prst="roundRect">
            <a:avLst>
              <a:gd name="adj" fmla="val 15000"/>
            </a:avLst>
          </a:prstGeom>
          <a:solidFill>
            <a:schemeClr val="tx1"/>
          </a:solidFill>
          <a:ln w="12700">
            <a:solidFill>
              <a:schemeClr val="tx1"/>
            </a:solidFill>
            <a:prstDash val="solid"/>
          </a:ln>
        </p:spPr>
        <p:txBody>
          <a:bodyPr wrap="square" lIns="508" tIns="508" rIns="508" bIns="508" rtlCol="0" anchor="ctr"/>
          <a:lstStyle/>
          <a:p>
            <a:pPr marL="0" indent="0" algn="ctr">
              <a:buNone/>
            </a:pPr>
            <a:r>
              <a:rPr lang="en-US" sz="1300" b="1" dirty="0">
                <a:solidFill>
                  <a:schemeClr val="bg1"/>
                </a:solidFill>
              </a:rPr>
              <a:t>Analyze</a:t>
            </a:r>
            <a:endParaRPr lang="en-US" sz="1300" dirty="0"/>
          </a:p>
        </p:txBody>
      </p:sp>
      <p:sp>
        <p:nvSpPr>
          <p:cNvPr id="38" name="arrow-68"/>
          <p:cNvSpPr/>
          <p:nvPr/>
        </p:nvSpPr>
        <p:spPr>
          <a:xfrm>
            <a:off x="6309360" y="4297680"/>
            <a:ext cx="365760" cy="0"/>
          </a:xfrm>
          <a:prstGeom prst="line">
            <a:avLst/>
          </a:prstGeom>
          <a:noFill/>
          <a:ln w="15875">
            <a:solidFill>
              <a:srgbClr val="94A3B8"/>
            </a:solidFill>
            <a:prstDash val="solid"/>
            <a:tailEnd type="triangle"/>
          </a:ln>
        </p:spPr>
        <p:txBody>
          <a:bodyPr/>
          <a:lstStyle/>
          <a:p>
            <a:endParaRPr lang="en-US"/>
          </a:p>
        </p:txBody>
      </p:sp>
      <p:sp>
        <p:nvSpPr>
          <p:cNvPr id="39" name="box-69"/>
          <p:cNvSpPr txBox="1"/>
          <p:nvPr/>
        </p:nvSpPr>
        <p:spPr>
          <a:xfrm>
            <a:off x="6675120" y="4114800"/>
            <a:ext cx="1554480" cy="365760"/>
          </a:xfrm>
          <a:prstGeom prst="roundRect">
            <a:avLst>
              <a:gd name="adj" fmla="val 15000"/>
            </a:avLst>
          </a:prstGeom>
          <a:solidFill>
            <a:schemeClr val="tx1"/>
          </a:solidFill>
          <a:ln w="12700">
            <a:solidFill>
              <a:schemeClr val="tx1"/>
            </a:solidFill>
            <a:prstDash val="solid"/>
          </a:ln>
        </p:spPr>
        <p:txBody>
          <a:bodyPr wrap="square" lIns="508" tIns="508" rIns="508" bIns="508" rtlCol="0" anchor="ctr"/>
          <a:lstStyle/>
          <a:p>
            <a:pPr marL="0" indent="0" algn="ctr">
              <a:buNone/>
            </a:pPr>
            <a:r>
              <a:rPr lang="en-US" sz="1300" b="1" dirty="0">
                <a:solidFill>
                  <a:schemeClr val="bg1"/>
                </a:solidFill>
              </a:rPr>
              <a:t>Recommend</a:t>
            </a:r>
            <a:endParaRPr lang="en-US" sz="1300" dirty="0"/>
          </a:p>
        </p:txBody>
      </p:sp>
      <p:sp>
        <p:nvSpPr>
          <p:cNvPr id="40"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94A3B8"/>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548640"/>
          </a:xfrm>
          <a:prstGeom prst="rect">
            <a:avLst/>
          </a:prstGeom>
          <a:noFill/>
          <a:ln/>
        </p:spPr>
        <p:txBody>
          <a:bodyPr wrap="square" lIns="0" tIns="0" rIns="0" bIns="0" rtlCol="0" anchor="ctr"/>
          <a:lstStyle/>
          <a:p>
            <a:pPr marL="0" indent="0" algn="l">
              <a:buNone/>
            </a:pPr>
            <a:r>
              <a:rPr lang="en-US" sz="2600" b="1" dirty="0">
                <a:solidFill>
                  <a:schemeClr val="tx1"/>
                </a:solidFill>
              </a:rPr>
              <a:t>PromptBench Architecture</a:t>
            </a:r>
            <a:endParaRPr lang="en-US" sz="2600" dirty="0"/>
          </a:p>
        </p:txBody>
      </p:sp>
      <p:sp>
        <p:nvSpPr>
          <p:cNvPr id="3" name="box-70"/>
          <p:cNvSpPr txBox="1"/>
          <p:nvPr/>
        </p:nvSpPr>
        <p:spPr>
          <a:xfrm>
            <a:off x="3840480" y="896112"/>
            <a:ext cx="1463040" cy="274320"/>
          </a:xfrm>
          <a:prstGeom prst="roundRect">
            <a:avLst>
              <a:gd name="adj" fmla="val 20000"/>
            </a:avLst>
          </a:prstGeom>
          <a:solidFill>
            <a:schemeClr val="tx1"/>
          </a:solidFill>
          <a:ln w="12700">
            <a:solidFill>
              <a:schemeClr val="tx1"/>
            </a:solidFill>
            <a:prstDash val="solid"/>
          </a:ln>
        </p:spPr>
        <p:txBody>
          <a:bodyPr wrap="square" lIns="508" tIns="508" rIns="508" bIns="508" rtlCol="0" anchor="ctr"/>
          <a:lstStyle/>
          <a:p>
            <a:pPr marL="0" indent="0" algn="ctr">
              <a:buNone/>
            </a:pPr>
            <a:r>
              <a:rPr lang="en-US" sz="1000" b="1" dirty="0">
                <a:solidFill>
                  <a:schemeClr val="bg1"/>
                </a:solidFill>
                <a:latin typeface="Courier New" pitchFamily="34" charset="0"/>
                <a:ea typeface="Courier New" pitchFamily="34" charset="-122"/>
                <a:cs typeface="Courier New" pitchFamily="34" charset="-120"/>
              </a:rPr>
              <a:t>USER</a:t>
            </a:r>
            <a:endParaRPr lang="en-US" sz="1000" dirty="0"/>
          </a:p>
        </p:txBody>
      </p:sp>
      <p:sp>
        <p:nvSpPr>
          <p:cNvPr id="4" name="arrow-71"/>
          <p:cNvSpPr/>
          <p:nvPr/>
        </p:nvSpPr>
        <p:spPr>
          <a:xfrm>
            <a:off x="4572000" y="1170432"/>
            <a:ext cx="0" cy="246888"/>
          </a:xfrm>
          <a:prstGeom prst="line">
            <a:avLst/>
          </a:prstGeom>
          <a:noFill/>
          <a:ln w="15875">
            <a:solidFill>
              <a:srgbClr val="94A3B8"/>
            </a:solidFill>
            <a:prstDash val="solid"/>
            <a:tailEnd type="triangle"/>
          </a:ln>
        </p:spPr>
        <p:txBody>
          <a:bodyPr/>
          <a:lstStyle/>
          <a:p>
            <a:endParaRPr lang="en-US"/>
          </a:p>
        </p:txBody>
      </p:sp>
      <p:sp>
        <p:nvSpPr>
          <p:cNvPr id="5" name="box-72"/>
          <p:cNvSpPr txBox="1"/>
          <p:nvPr/>
        </p:nvSpPr>
        <p:spPr>
          <a:xfrm>
            <a:off x="822960" y="1417320"/>
            <a:ext cx="7498080" cy="329184"/>
          </a:xfrm>
          <a:prstGeom prst="roundRect">
            <a:avLst>
              <a:gd name="adj" fmla="val 16667"/>
            </a:avLst>
          </a:prstGeom>
          <a:solidFill>
            <a:schemeClr val="bg1"/>
          </a:solidFill>
          <a:ln w="12700">
            <a:solidFill>
              <a:srgbClr val="D5DBE6"/>
            </a:solidFill>
            <a:prstDash val="solid"/>
          </a:ln>
        </p:spPr>
        <p:txBody>
          <a:bodyPr wrap="square" lIns="508" tIns="508" rIns="508" bIns="508" rtlCol="0" anchor="ctr"/>
          <a:lstStyle/>
          <a:p>
            <a:pPr marL="0" indent="0" algn="ctr">
              <a:buNone/>
            </a:pPr>
            <a:r>
              <a:rPr lang="en-US" sz="1100" b="1" dirty="0">
                <a:solidFill>
                  <a:schemeClr val="tx1"/>
                </a:solidFill>
                <a:latin typeface="Courier New" pitchFamily="34" charset="0"/>
                <a:ea typeface="Courier New" pitchFamily="34" charset="-122"/>
                <a:cs typeface="Courier New" pitchFamily="34" charset="-120"/>
              </a:rPr>
              <a:t>PROMPTBENCH WEB UI</a:t>
            </a:r>
            <a:endParaRPr lang="en-US" sz="1100" dirty="0"/>
          </a:p>
        </p:txBody>
      </p:sp>
      <p:sp>
        <p:nvSpPr>
          <p:cNvPr id="6" name="arrow-73"/>
          <p:cNvSpPr/>
          <p:nvPr/>
        </p:nvSpPr>
        <p:spPr>
          <a:xfrm>
            <a:off x="4572000" y="1746504"/>
            <a:ext cx="0" cy="173736"/>
          </a:xfrm>
          <a:prstGeom prst="line">
            <a:avLst/>
          </a:prstGeom>
          <a:noFill/>
          <a:ln w="15875">
            <a:solidFill>
              <a:srgbClr val="94A3B8"/>
            </a:solidFill>
            <a:prstDash val="solid"/>
            <a:tailEnd type="triangle"/>
          </a:ln>
        </p:spPr>
        <p:txBody>
          <a:bodyPr/>
          <a:lstStyle/>
          <a:p>
            <a:endParaRPr lang="en-US"/>
          </a:p>
        </p:txBody>
      </p:sp>
      <p:sp>
        <p:nvSpPr>
          <p:cNvPr id="7" name="box-74"/>
          <p:cNvSpPr txBox="1"/>
          <p:nvPr/>
        </p:nvSpPr>
        <p:spPr>
          <a:xfrm>
            <a:off x="822960" y="1920240"/>
            <a:ext cx="7498080" cy="329184"/>
          </a:xfrm>
          <a:prstGeom prst="roundRect">
            <a:avLst>
              <a:gd name="adj" fmla="val 16667"/>
            </a:avLst>
          </a:prstGeom>
          <a:solidFill>
            <a:schemeClr val="bg1"/>
          </a:solidFill>
          <a:ln w="12700">
            <a:solidFill>
              <a:srgbClr val="D5DBE6"/>
            </a:solidFill>
            <a:prstDash val="solid"/>
          </a:ln>
        </p:spPr>
        <p:txBody>
          <a:bodyPr wrap="square" lIns="508" tIns="508" rIns="508" bIns="508" rtlCol="0" anchor="ctr"/>
          <a:lstStyle/>
          <a:p>
            <a:pPr marL="0" indent="0" algn="ctr">
              <a:buNone/>
            </a:pPr>
            <a:r>
              <a:rPr lang="en-US" sz="1100" b="1" dirty="0">
                <a:solidFill>
                  <a:schemeClr val="tx1"/>
                </a:solidFill>
                <a:latin typeface="Courier New" pitchFamily="34" charset="0"/>
                <a:ea typeface="Courier New" pitchFamily="34" charset="-122"/>
                <a:cs typeface="Courier New" pitchFamily="34" charset="-120"/>
              </a:rPr>
              <a:t>API LAYER</a:t>
            </a:r>
            <a:endParaRPr lang="en-US" sz="1100" dirty="0"/>
          </a:p>
        </p:txBody>
      </p:sp>
      <p:sp>
        <p:nvSpPr>
          <p:cNvPr id="8" name="arrow-75"/>
          <p:cNvSpPr/>
          <p:nvPr/>
        </p:nvSpPr>
        <p:spPr>
          <a:xfrm>
            <a:off x="2011680" y="2249424"/>
            <a:ext cx="0" cy="219456"/>
          </a:xfrm>
          <a:prstGeom prst="line">
            <a:avLst/>
          </a:prstGeom>
          <a:noFill/>
          <a:ln w="15875">
            <a:solidFill>
              <a:srgbClr val="94A3B8"/>
            </a:solidFill>
            <a:prstDash val="solid"/>
            <a:tailEnd type="triangle"/>
          </a:ln>
        </p:spPr>
        <p:txBody>
          <a:bodyPr/>
          <a:lstStyle/>
          <a:p>
            <a:endParaRPr lang="en-US"/>
          </a:p>
        </p:txBody>
      </p:sp>
      <p:sp>
        <p:nvSpPr>
          <p:cNvPr id="9" name="box-76"/>
          <p:cNvSpPr txBox="1"/>
          <p:nvPr/>
        </p:nvSpPr>
        <p:spPr>
          <a:xfrm>
            <a:off x="822960" y="2468880"/>
            <a:ext cx="2377440" cy="457200"/>
          </a:xfrm>
          <a:prstGeom prst="roundRect">
            <a:avLst>
              <a:gd name="adj" fmla="val 12000"/>
            </a:avLst>
          </a:prstGeom>
          <a:solidFill>
            <a:schemeClr val="bg1"/>
          </a:solidFill>
          <a:ln w="19050">
            <a:solidFill>
              <a:schemeClr val="accent1"/>
            </a:solidFill>
            <a:prstDash val="solid"/>
          </a:ln>
        </p:spPr>
        <p:txBody>
          <a:bodyPr wrap="square" lIns="508" tIns="508" rIns="508" bIns="508" rtlCol="0" anchor="ctr"/>
          <a:lstStyle/>
          <a:p>
            <a:pPr marL="0" indent="0" algn="ctr">
              <a:buNone/>
            </a:pPr>
            <a:r>
              <a:rPr lang="en-US" sz="1100" b="1" dirty="0">
                <a:solidFill>
                  <a:schemeClr val="tx1"/>
                </a:solidFill>
                <a:latin typeface="Courier New" pitchFamily="34" charset="0"/>
                <a:ea typeface="Courier New" pitchFamily="34" charset="-122"/>
                <a:cs typeface="Courier New" pitchFamily="34" charset="-120"/>
              </a:rPr>
              <a:t>MODEL RUNNER</a:t>
            </a:r>
            <a:endParaRPr lang="en-US" sz="1100" dirty="0"/>
          </a:p>
        </p:txBody>
      </p:sp>
      <p:sp>
        <p:nvSpPr>
          <p:cNvPr id="10" name="arrow-77"/>
          <p:cNvSpPr/>
          <p:nvPr/>
        </p:nvSpPr>
        <p:spPr>
          <a:xfrm>
            <a:off x="2011680" y="2926080"/>
            <a:ext cx="0" cy="228600"/>
          </a:xfrm>
          <a:prstGeom prst="line">
            <a:avLst/>
          </a:prstGeom>
          <a:noFill/>
          <a:ln w="15875">
            <a:solidFill>
              <a:srgbClr val="94A3B8"/>
            </a:solidFill>
            <a:prstDash val="solid"/>
            <a:tailEnd type="triangle"/>
          </a:ln>
        </p:spPr>
        <p:txBody>
          <a:bodyPr/>
          <a:lstStyle/>
          <a:p>
            <a:endParaRPr lang="en-US"/>
          </a:p>
        </p:txBody>
      </p:sp>
      <p:sp>
        <p:nvSpPr>
          <p:cNvPr id="11" name="box-78"/>
          <p:cNvSpPr txBox="1"/>
          <p:nvPr/>
        </p:nvSpPr>
        <p:spPr>
          <a:xfrm>
            <a:off x="822960" y="3154680"/>
            <a:ext cx="2377440" cy="457200"/>
          </a:xfrm>
          <a:prstGeom prst="roundRect">
            <a:avLst>
              <a:gd name="adj" fmla="val 12000"/>
            </a:avLst>
          </a:prstGeom>
          <a:solidFill>
            <a:srgbClr val="EEF2F8"/>
          </a:solidFill>
          <a:ln w="12700">
            <a:solidFill>
              <a:schemeClr val="accent5"/>
            </a:solidFill>
            <a:prstDash val="dash"/>
          </a:ln>
        </p:spPr>
        <p:txBody>
          <a:bodyPr wrap="square" lIns="508" tIns="508" rIns="508" bIns="508" rtlCol="0" anchor="ctr"/>
          <a:lstStyle/>
          <a:p>
            <a:pPr marL="0" indent="0" algn="ctr">
              <a:buNone/>
            </a:pPr>
            <a:r>
              <a:rPr lang="en-US" sz="1050" dirty="0">
                <a:solidFill>
                  <a:schemeClr val="tx1"/>
                </a:solidFill>
                <a:latin typeface="Courier New" pitchFamily="34" charset="0"/>
                <a:ea typeface="Courier New" pitchFamily="34" charset="-122"/>
                <a:cs typeface="Courier New" pitchFamily="34" charset="-120"/>
              </a:rPr>
              <a:t>LLM APIs</a:t>
            </a:r>
            <a:endParaRPr lang="en-US" sz="1050" dirty="0"/>
          </a:p>
        </p:txBody>
      </p:sp>
      <p:sp>
        <p:nvSpPr>
          <p:cNvPr id="12" name="arrow-79"/>
          <p:cNvSpPr/>
          <p:nvPr/>
        </p:nvSpPr>
        <p:spPr>
          <a:xfrm>
            <a:off x="2011680" y="3611880"/>
            <a:ext cx="0" cy="274320"/>
          </a:xfrm>
          <a:prstGeom prst="line">
            <a:avLst/>
          </a:prstGeom>
          <a:noFill/>
          <a:ln w="15875">
            <a:solidFill>
              <a:srgbClr val="94A3B8"/>
            </a:solidFill>
            <a:prstDash val="solid"/>
            <a:tailEnd type="triangle"/>
          </a:ln>
        </p:spPr>
        <p:txBody>
          <a:bodyPr/>
          <a:lstStyle/>
          <a:p>
            <a:endParaRPr lang="en-US"/>
          </a:p>
        </p:txBody>
      </p:sp>
      <p:sp>
        <p:nvSpPr>
          <p:cNvPr id="13" name="arrow-80"/>
          <p:cNvSpPr/>
          <p:nvPr/>
        </p:nvSpPr>
        <p:spPr>
          <a:xfrm>
            <a:off x="4572000" y="2249424"/>
            <a:ext cx="0" cy="219456"/>
          </a:xfrm>
          <a:prstGeom prst="line">
            <a:avLst/>
          </a:prstGeom>
          <a:noFill/>
          <a:ln w="15875">
            <a:solidFill>
              <a:srgbClr val="94A3B8"/>
            </a:solidFill>
            <a:prstDash val="solid"/>
            <a:tailEnd type="triangle"/>
          </a:ln>
        </p:spPr>
        <p:txBody>
          <a:bodyPr/>
          <a:lstStyle/>
          <a:p>
            <a:endParaRPr lang="en-US"/>
          </a:p>
        </p:txBody>
      </p:sp>
      <p:sp>
        <p:nvSpPr>
          <p:cNvPr id="14" name="box-81"/>
          <p:cNvSpPr txBox="1"/>
          <p:nvPr/>
        </p:nvSpPr>
        <p:spPr>
          <a:xfrm>
            <a:off x="3383280" y="2468880"/>
            <a:ext cx="2377440" cy="457200"/>
          </a:xfrm>
          <a:prstGeom prst="roundRect">
            <a:avLst>
              <a:gd name="adj" fmla="val 12000"/>
            </a:avLst>
          </a:prstGeom>
          <a:solidFill>
            <a:schemeClr val="bg1"/>
          </a:solidFill>
          <a:ln w="19050">
            <a:solidFill>
              <a:schemeClr val="accent3"/>
            </a:solidFill>
            <a:prstDash val="solid"/>
          </a:ln>
        </p:spPr>
        <p:txBody>
          <a:bodyPr wrap="square" lIns="508" tIns="508" rIns="508" bIns="508" rtlCol="0" anchor="ctr"/>
          <a:lstStyle/>
          <a:p>
            <a:pPr marL="0" indent="0" algn="ctr">
              <a:buNone/>
            </a:pPr>
            <a:r>
              <a:rPr lang="en-US" sz="1100" b="1" dirty="0">
                <a:solidFill>
                  <a:schemeClr val="tx1"/>
                </a:solidFill>
                <a:latin typeface="Courier New" pitchFamily="34" charset="0"/>
                <a:ea typeface="Courier New" pitchFamily="34" charset="-122"/>
                <a:cs typeface="Courier New" pitchFamily="34" charset="-120"/>
              </a:rPr>
              <a:t>EVALUATION ENGINE</a:t>
            </a:r>
            <a:endParaRPr lang="en-US" sz="1100" dirty="0"/>
          </a:p>
        </p:txBody>
      </p:sp>
      <p:sp>
        <p:nvSpPr>
          <p:cNvPr id="15" name="arrow-82"/>
          <p:cNvSpPr/>
          <p:nvPr/>
        </p:nvSpPr>
        <p:spPr>
          <a:xfrm>
            <a:off x="4572000" y="2926080"/>
            <a:ext cx="0" cy="228600"/>
          </a:xfrm>
          <a:prstGeom prst="line">
            <a:avLst/>
          </a:prstGeom>
          <a:noFill/>
          <a:ln w="15875">
            <a:solidFill>
              <a:srgbClr val="94A3B8"/>
            </a:solidFill>
            <a:prstDash val="solid"/>
            <a:tailEnd type="triangle"/>
          </a:ln>
        </p:spPr>
        <p:txBody>
          <a:bodyPr/>
          <a:lstStyle/>
          <a:p>
            <a:endParaRPr lang="en-US"/>
          </a:p>
        </p:txBody>
      </p:sp>
      <p:sp>
        <p:nvSpPr>
          <p:cNvPr id="16" name="box-83"/>
          <p:cNvSpPr txBox="1"/>
          <p:nvPr/>
        </p:nvSpPr>
        <p:spPr>
          <a:xfrm>
            <a:off x="3383280" y="3154680"/>
            <a:ext cx="2377440" cy="457200"/>
          </a:xfrm>
          <a:prstGeom prst="roundRect">
            <a:avLst>
              <a:gd name="adj" fmla="val 12000"/>
            </a:avLst>
          </a:prstGeom>
          <a:solidFill>
            <a:srgbClr val="EEF2F8"/>
          </a:solidFill>
          <a:ln w="12700">
            <a:solidFill>
              <a:srgbClr val="D5DBE6"/>
            </a:solidFill>
            <a:prstDash val="solid"/>
          </a:ln>
        </p:spPr>
        <p:txBody>
          <a:bodyPr wrap="square" lIns="508" tIns="508" rIns="508" bIns="508" rtlCol="0" anchor="ctr"/>
          <a:lstStyle/>
          <a:p>
            <a:pPr marL="0" indent="0" algn="ctr">
              <a:buNone/>
            </a:pPr>
            <a:r>
              <a:rPr lang="en-US" sz="1050" dirty="0">
                <a:solidFill>
                  <a:schemeClr val="tx1"/>
                </a:solidFill>
                <a:latin typeface="Courier New" pitchFamily="34" charset="0"/>
                <a:ea typeface="Courier New" pitchFamily="34" charset="-122"/>
                <a:cs typeface="Courier New" pitchFamily="34" charset="-120"/>
              </a:rPr>
              <a:t>METRICS / LLM JUDGE</a:t>
            </a:r>
            <a:endParaRPr lang="en-US" sz="1050" dirty="0"/>
          </a:p>
        </p:txBody>
      </p:sp>
      <p:sp>
        <p:nvSpPr>
          <p:cNvPr id="17" name="arrow-84"/>
          <p:cNvSpPr/>
          <p:nvPr/>
        </p:nvSpPr>
        <p:spPr>
          <a:xfrm>
            <a:off x="4572000" y="3611880"/>
            <a:ext cx="0" cy="274320"/>
          </a:xfrm>
          <a:prstGeom prst="line">
            <a:avLst/>
          </a:prstGeom>
          <a:noFill/>
          <a:ln w="15875">
            <a:solidFill>
              <a:srgbClr val="94A3B8"/>
            </a:solidFill>
            <a:prstDash val="solid"/>
            <a:tailEnd type="triangle"/>
          </a:ln>
        </p:spPr>
        <p:txBody>
          <a:bodyPr/>
          <a:lstStyle/>
          <a:p>
            <a:endParaRPr lang="en-US"/>
          </a:p>
        </p:txBody>
      </p:sp>
      <p:sp>
        <p:nvSpPr>
          <p:cNvPr id="18" name="arrow-85"/>
          <p:cNvSpPr/>
          <p:nvPr/>
        </p:nvSpPr>
        <p:spPr>
          <a:xfrm>
            <a:off x="7132320" y="2249424"/>
            <a:ext cx="0" cy="219456"/>
          </a:xfrm>
          <a:prstGeom prst="line">
            <a:avLst/>
          </a:prstGeom>
          <a:noFill/>
          <a:ln w="15875">
            <a:solidFill>
              <a:srgbClr val="94A3B8"/>
            </a:solidFill>
            <a:prstDash val="solid"/>
            <a:tailEnd type="triangle"/>
          </a:ln>
        </p:spPr>
        <p:txBody>
          <a:bodyPr/>
          <a:lstStyle/>
          <a:p>
            <a:endParaRPr lang="en-US"/>
          </a:p>
        </p:txBody>
      </p:sp>
      <p:sp>
        <p:nvSpPr>
          <p:cNvPr id="19" name="box-86"/>
          <p:cNvSpPr txBox="1"/>
          <p:nvPr/>
        </p:nvSpPr>
        <p:spPr>
          <a:xfrm>
            <a:off x="5943600" y="2468880"/>
            <a:ext cx="2377440" cy="457200"/>
          </a:xfrm>
          <a:prstGeom prst="roundRect">
            <a:avLst>
              <a:gd name="adj" fmla="val 12000"/>
            </a:avLst>
          </a:prstGeom>
          <a:solidFill>
            <a:schemeClr val="bg1"/>
          </a:solidFill>
          <a:ln w="19050">
            <a:solidFill>
              <a:schemeClr val="accent4"/>
            </a:solidFill>
            <a:prstDash val="solid"/>
          </a:ln>
        </p:spPr>
        <p:txBody>
          <a:bodyPr wrap="square" lIns="508" tIns="508" rIns="508" bIns="508" rtlCol="0" anchor="ctr"/>
          <a:lstStyle/>
          <a:p>
            <a:pPr marL="0" indent="0" algn="ctr">
              <a:buNone/>
            </a:pPr>
            <a:r>
              <a:rPr lang="en-US" sz="1100" b="1" dirty="0">
                <a:solidFill>
                  <a:schemeClr val="tx1"/>
                </a:solidFill>
                <a:latin typeface="Courier New" pitchFamily="34" charset="0"/>
                <a:ea typeface="Courier New" pitchFamily="34" charset="-122"/>
                <a:cs typeface="Courier New" pitchFamily="34" charset="-120"/>
              </a:rPr>
              <a:t>RAG PIPELINE</a:t>
            </a:r>
            <a:endParaRPr lang="en-US" sz="1100" dirty="0"/>
          </a:p>
        </p:txBody>
      </p:sp>
      <p:sp>
        <p:nvSpPr>
          <p:cNvPr id="20" name="arrow-87"/>
          <p:cNvSpPr/>
          <p:nvPr/>
        </p:nvSpPr>
        <p:spPr>
          <a:xfrm>
            <a:off x="7132320" y="2926080"/>
            <a:ext cx="0" cy="228600"/>
          </a:xfrm>
          <a:prstGeom prst="line">
            <a:avLst/>
          </a:prstGeom>
          <a:noFill/>
          <a:ln w="15875">
            <a:solidFill>
              <a:srgbClr val="94A3B8"/>
            </a:solidFill>
            <a:prstDash val="solid"/>
            <a:tailEnd type="triangle"/>
          </a:ln>
        </p:spPr>
        <p:txBody>
          <a:bodyPr/>
          <a:lstStyle/>
          <a:p>
            <a:endParaRPr lang="en-US"/>
          </a:p>
        </p:txBody>
      </p:sp>
      <p:sp>
        <p:nvSpPr>
          <p:cNvPr id="21" name="box-88"/>
          <p:cNvSpPr txBox="1"/>
          <p:nvPr/>
        </p:nvSpPr>
        <p:spPr>
          <a:xfrm>
            <a:off x="5943600" y="3154680"/>
            <a:ext cx="2377440" cy="457200"/>
          </a:xfrm>
          <a:prstGeom prst="roundRect">
            <a:avLst>
              <a:gd name="adj" fmla="val 12000"/>
            </a:avLst>
          </a:prstGeom>
          <a:solidFill>
            <a:srgbClr val="EEF2F8"/>
          </a:solidFill>
          <a:ln w="12700">
            <a:solidFill>
              <a:srgbClr val="D5DBE6"/>
            </a:solidFill>
            <a:prstDash val="solid"/>
          </a:ln>
        </p:spPr>
        <p:txBody>
          <a:bodyPr wrap="square" lIns="508" tIns="508" rIns="508" bIns="508" rtlCol="0" anchor="ctr"/>
          <a:lstStyle/>
          <a:p>
            <a:pPr marL="0" indent="0" algn="ctr">
              <a:buNone/>
            </a:pPr>
            <a:r>
              <a:rPr lang="en-US" sz="1050" dirty="0">
                <a:solidFill>
                  <a:schemeClr val="tx1"/>
                </a:solidFill>
                <a:latin typeface="Courier New" pitchFamily="34" charset="0"/>
                <a:ea typeface="Courier New" pitchFamily="34" charset="-122"/>
                <a:cs typeface="Courier New" pitchFamily="34" charset="-120"/>
              </a:rPr>
              <a:t>RETRIEVER → CONTEXT</a:t>
            </a:r>
            <a:endParaRPr lang="en-US" sz="1050" dirty="0"/>
          </a:p>
        </p:txBody>
      </p:sp>
      <p:sp>
        <p:nvSpPr>
          <p:cNvPr id="22" name="arrow-89"/>
          <p:cNvSpPr/>
          <p:nvPr/>
        </p:nvSpPr>
        <p:spPr>
          <a:xfrm>
            <a:off x="7132320" y="3611880"/>
            <a:ext cx="0" cy="274320"/>
          </a:xfrm>
          <a:prstGeom prst="line">
            <a:avLst/>
          </a:prstGeom>
          <a:noFill/>
          <a:ln w="15875">
            <a:solidFill>
              <a:srgbClr val="94A3B8"/>
            </a:solidFill>
            <a:prstDash val="solid"/>
            <a:tailEnd type="triangle"/>
          </a:ln>
        </p:spPr>
        <p:txBody>
          <a:bodyPr/>
          <a:lstStyle/>
          <a:p>
            <a:endParaRPr lang="en-US"/>
          </a:p>
        </p:txBody>
      </p:sp>
      <p:sp>
        <p:nvSpPr>
          <p:cNvPr id="23" name="box-90"/>
          <p:cNvSpPr txBox="1"/>
          <p:nvPr/>
        </p:nvSpPr>
        <p:spPr>
          <a:xfrm>
            <a:off x="822960" y="3886200"/>
            <a:ext cx="7498080" cy="411480"/>
          </a:xfrm>
          <a:prstGeom prst="roundRect">
            <a:avLst>
              <a:gd name="adj" fmla="val 13333"/>
            </a:avLst>
          </a:prstGeom>
          <a:solidFill>
            <a:schemeClr val="tx1"/>
          </a:solidFill>
          <a:ln w="12700">
            <a:solidFill>
              <a:schemeClr val="tx1"/>
            </a:solidFill>
            <a:prstDash val="solid"/>
          </a:ln>
        </p:spPr>
        <p:txBody>
          <a:bodyPr wrap="square" lIns="508" tIns="508" rIns="508" bIns="508" rtlCol="0" anchor="ctr"/>
          <a:lstStyle/>
          <a:p>
            <a:pPr marL="0" indent="0" algn="ctr">
              <a:buNone/>
            </a:pPr>
            <a:r>
              <a:rPr lang="en-US" sz="1100" b="1" dirty="0">
                <a:solidFill>
                  <a:schemeClr val="bg1"/>
                </a:solidFill>
                <a:latin typeface="Courier New" pitchFamily="34" charset="0"/>
                <a:ea typeface="Courier New" pitchFamily="34" charset="-122"/>
                <a:cs typeface="Courier New" pitchFamily="34" charset="-120"/>
              </a:rPr>
              <a:t>EVALUATION HISTORY</a:t>
            </a:r>
            <a:endParaRPr lang="en-US" sz="1100" dirty="0"/>
          </a:p>
        </p:txBody>
      </p:sp>
      <p:sp>
        <p:nvSpPr>
          <p:cNvPr id="24" name="text-91"/>
          <p:cNvSpPr txBox="1"/>
          <p:nvPr/>
        </p:nvSpPr>
        <p:spPr>
          <a:xfrm>
            <a:off x="822960" y="4434840"/>
            <a:ext cx="7498080" cy="228600"/>
          </a:xfrm>
          <a:prstGeom prst="rect">
            <a:avLst/>
          </a:prstGeom>
          <a:noFill/>
          <a:ln/>
        </p:spPr>
        <p:txBody>
          <a:bodyPr wrap="square" lIns="0" tIns="0" rIns="0" bIns="0" rtlCol="0" anchor="t"/>
          <a:lstStyle/>
          <a:p>
            <a:pPr marL="0" indent="0">
              <a:buNone/>
            </a:pPr>
            <a:r>
              <a:rPr lang="en-US" sz="1050" dirty="0">
                <a:solidFill>
                  <a:schemeClr val="accent5"/>
                </a:solidFill>
              </a:rPr>
              <a:t>Dashed outline: external dependency (model provider APIs)</a:t>
            </a:r>
            <a:endParaRPr lang="en-US" sz="105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94A3B8"/>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548640"/>
          </a:xfrm>
          <a:prstGeom prst="rect">
            <a:avLst/>
          </a:prstGeom>
          <a:noFill/>
          <a:ln/>
        </p:spPr>
        <p:txBody>
          <a:bodyPr wrap="square" lIns="0" tIns="0" rIns="0" bIns="0" rtlCol="0" anchor="ctr"/>
          <a:lstStyle/>
          <a:p>
            <a:pPr marL="0" indent="0" algn="l">
              <a:buNone/>
            </a:pPr>
            <a:r>
              <a:rPr lang="en-US" sz="2600" b="1" dirty="0">
                <a:solidFill>
                  <a:schemeClr val="tx1"/>
                </a:solidFill>
              </a:rPr>
              <a:t>How PromptBench Evaluates Responses</a:t>
            </a:r>
            <a:endParaRPr lang="en-US" sz="2600" dirty="0"/>
          </a:p>
        </p:txBody>
      </p:sp>
      <p:sp>
        <p:nvSpPr>
          <p:cNvPr id="3" name="box-92"/>
          <p:cNvSpPr txBox="1"/>
          <p:nvPr/>
        </p:nvSpPr>
        <p:spPr>
          <a:xfrm>
            <a:off x="457200" y="1051560"/>
            <a:ext cx="1143000" cy="640080"/>
          </a:xfrm>
          <a:prstGeom prst="roundRect">
            <a:avLst>
              <a:gd name="adj" fmla="val 8571"/>
            </a:avLst>
          </a:prstGeom>
          <a:solidFill>
            <a:schemeClr val="bg1"/>
          </a:solidFill>
          <a:ln w="12700">
            <a:solidFill>
              <a:srgbClr val="D5DBE6"/>
            </a:solidFill>
            <a:prstDash val="solid"/>
          </a:ln>
        </p:spPr>
        <p:txBody>
          <a:bodyPr wrap="square" lIns="508" tIns="508" rIns="508" bIns="508" rtlCol="0" anchor="ctr"/>
          <a:lstStyle/>
          <a:p>
            <a:pPr marL="0" indent="0" algn="ctr">
              <a:buNone/>
            </a:pPr>
            <a:r>
              <a:rPr lang="en-US" sz="1100" b="1" dirty="0">
                <a:solidFill>
                  <a:schemeClr val="tx1"/>
                </a:solidFill>
              </a:rPr>
              <a:t>Input dataset</a:t>
            </a:r>
            <a:endParaRPr lang="en-US" sz="1100" dirty="0"/>
          </a:p>
        </p:txBody>
      </p:sp>
      <p:sp>
        <p:nvSpPr>
          <p:cNvPr id="4" name="arrow-93"/>
          <p:cNvSpPr/>
          <p:nvPr/>
        </p:nvSpPr>
        <p:spPr>
          <a:xfrm>
            <a:off x="1600200" y="1371600"/>
            <a:ext cx="274320" cy="0"/>
          </a:xfrm>
          <a:prstGeom prst="line">
            <a:avLst/>
          </a:prstGeom>
          <a:noFill/>
          <a:ln w="15875">
            <a:solidFill>
              <a:srgbClr val="94A3B8"/>
            </a:solidFill>
            <a:prstDash val="solid"/>
            <a:tailEnd type="triangle"/>
          </a:ln>
        </p:spPr>
        <p:txBody>
          <a:bodyPr/>
          <a:lstStyle/>
          <a:p>
            <a:endParaRPr lang="en-US"/>
          </a:p>
        </p:txBody>
      </p:sp>
      <p:sp>
        <p:nvSpPr>
          <p:cNvPr id="5" name="box-94"/>
          <p:cNvSpPr txBox="1"/>
          <p:nvPr/>
        </p:nvSpPr>
        <p:spPr>
          <a:xfrm>
            <a:off x="1874520" y="1051560"/>
            <a:ext cx="1143000" cy="640080"/>
          </a:xfrm>
          <a:prstGeom prst="roundRect">
            <a:avLst>
              <a:gd name="adj" fmla="val 8571"/>
            </a:avLst>
          </a:prstGeom>
          <a:solidFill>
            <a:schemeClr val="bg1"/>
          </a:solidFill>
          <a:ln w="12700">
            <a:solidFill>
              <a:srgbClr val="D5DBE6"/>
            </a:solidFill>
            <a:prstDash val="solid"/>
          </a:ln>
        </p:spPr>
        <p:txBody>
          <a:bodyPr wrap="square" lIns="508" tIns="508" rIns="508" bIns="508" rtlCol="0" anchor="ctr"/>
          <a:lstStyle/>
          <a:p>
            <a:pPr marL="0" indent="0" algn="ctr">
              <a:buNone/>
            </a:pPr>
            <a:r>
              <a:rPr lang="en-US" sz="1100" b="1" dirty="0">
                <a:solidFill>
                  <a:schemeClr val="tx1"/>
                </a:solidFill>
              </a:rPr>
              <a:t>Prompt + model</a:t>
            </a:r>
            <a:endParaRPr lang="en-US" sz="1100" dirty="0"/>
          </a:p>
        </p:txBody>
      </p:sp>
      <p:sp>
        <p:nvSpPr>
          <p:cNvPr id="6" name="arrow-95"/>
          <p:cNvSpPr/>
          <p:nvPr/>
        </p:nvSpPr>
        <p:spPr>
          <a:xfrm>
            <a:off x="3017520" y="1371600"/>
            <a:ext cx="274320" cy="0"/>
          </a:xfrm>
          <a:prstGeom prst="line">
            <a:avLst/>
          </a:prstGeom>
          <a:noFill/>
          <a:ln w="15875">
            <a:solidFill>
              <a:srgbClr val="94A3B8"/>
            </a:solidFill>
            <a:prstDash val="solid"/>
            <a:tailEnd type="triangle"/>
          </a:ln>
        </p:spPr>
        <p:txBody>
          <a:bodyPr/>
          <a:lstStyle/>
          <a:p>
            <a:endParaRPr lang="en-US"/>
          </a:p>
        </p:txBody>
      </p:sp>
      <p:sp>
        <p:nvSpPr>
          <p:cNvPr id="7" name="box-96"/>
          <p:cNvSpPr txBox="1"/>
          <p:nvPr/>
        </p:nvSpPr>
        <p:spPr>
          <a:xfrm>
            <a:off x="3291840" y="1051560"/>
            <a:ext cx="1143000" cy="640080"/>
          </a:xfrm>
          <a:prstGeom prst="roundRect">
            <a:avLst>
              <a:gd name="adj" fmla="val 8571"/>
            </a:avLst>
          </a:prstGeom>
          <a:solidFill>
            <a:schemeClr val="bg1"/>
          </a:solidFill>
          <a:ln w="12700">
            <a:solidFill>
              <a:srgbClr val="D5DBE6"/>
            </a:solidFill>
            <a:prstDash val="solid"/>
          </a:ln>
        </p:spPr>
        <p:txBody>
          <a:bodyPr wrap="square" lIns="508" tIns="508" rIns="508" bIns="508" rtlCol="0" anchor="ctr"/>
          <a:lstStyle/>
          <a:p>
            <a:pPr marL="0" indent="0" algn="ctr">
              <a:buNone/>
            </a:pPr>
            <a:r>
              <a:rPr lang="en-US" sz="1100" b="1" dirty="0">
                <a:solidFill>
                  <a:schemeClr val="tx1"/>
                </a:solidFill>
              </a:rPr>
              <a:t>Generated response</a:t>
            </a:r>
            <a:endParaRPr lang="en-US" sz="1100" dirty="0"/>
          </a:p>
        </p:txBody>
      </p:sp>
      <p:sp>
        <p:nvSpPr>
          <p:cNvPr id="8" name="arrow-97"/>
          <p:cNvSpPr/>
          <p:nvPr/>
        </p:nvSpPr>
        <p:spPr>
          <a:xfrm>
            <a:off x="4434840" y="1371600"/>
            <a:ext cx="274320" cy="0"/>
          </a:xfrm>
          <a:prstGeom prst="line">
            <a:avLst/>
          </a:prstGeom>
          <a:noFill/>
          <a:ln w="15875">
            <a:solidFill>
              <a:srgbClr val="94A3B8"/>
            </a:solidFill>
            <a:prstDash val="solid"/>
            <a:tailEnd type="triangle"/>
          </a:ln>
        </p:spPr>
        <p:txBody>
          <a:bodyPr/>
          <a:lstStyle/>
          <a:p>
            <a:endParaRPr lang="en-US"/>
          </a:p>
        </p:txBody>
      </p:sp>
      <p:sp>
        <p:nvSpPr>
          <p:cNvPr id="9" name="box-98"/>
          <p:cNvSpPr txBox="1"/>
          <p:nvPr/>
        </p:nvSpPr>
        <p:spPr>
          <a:xfrm>
            <a:off x="4709160" y="1051560"/>
            <a:ext cx="1143000" cy="640080"/>
          </a:xfrm>
          <a:prstGeom prst="roundRect">
            <a:avLst>
              <a:gd name="adj" fmla="val 8571"/>
            </a:avLst>
          </a:prstGeom>
          <a:solidFill>
            <a:schemeClr val="tx1"/>
          </a:solidFill>
          <a:ln w="12700">
            <a:solidFill>
              <a:schemeClr val="tx1"/>
            </a:solidFill>
            <a:prstDash val="solid"/>
          </a:ln>
        </p:spPr>
        <p:txBody>
          <a:bodyPr wrap="square" lIns="508" tIns="508" rIns="508" bIns="508" rtlCol="0" anchor="ctr"/>
          <a:lstStyle/>
          <a:p>
            <a:pPr marL="0" indent="0" algn="ctr">
              <a:buNone/>
            </a:pPr>
            <a:r>
              <a:rPr lang="en-US" sz="1100" b="1" dirty="0">
                <a:solidFill>
                  <a:schemeClr val="bg1"/>
                </a:solidFill>
              </a:rPr>
              <a:t>Evaluation</a:t>
            </a:r>
            <a:endParaRPr lang="en-US" sz="1100" dirty="0"/>
          </a:p>
        </p:txBody>
      </p:sp>
      <p:sp>
        <p:nvSpPr>
          <p:cNvPr id="10" name="arrow-99"/>
          <p:cNvSpPr/>
          <p:nvPr/>
        </p:nvSpPr>
        <p:spPr>
          <a:xfrm>
            <a:off x="5852160" y="1371600"/>
            <a:ext cx="274320" cy="0"/>
          </a:xfrm>
          <a:prstGeom prst="line">
            <a:avLst/>
          </a:prstGeom>
          <a:noFill/>
          <a:ln w="15875">
            <a:solidFill>
              <a:srgbClr val="94A3B8"/>
            </a:solidFill>
            <a:prstDash val="solid"/>
            <a:tailEnd type="triangle"/>
          </a:ln>
        </p:spPr>
        <p:txBody>
          <a:bodyPr/>
          <a:lstStyle/>
          <a:p>
            <a:endParaRPr lang="en-US"/>
          </a:p>
        </p:txBody>
      </p:sp>
      <p:sp>
        <p:nvSpPr>
          <p:cNvPr id="11" name="box-100"/>
          <p:cNvSpPr txBox="1"/>
          <p:nvPr/>
        </p:nvSpPr>
        <p:spPr>
          <a:xfrm>
            <a:off x="6126480" y="1051560"/>
            <a:ext cx="1143000" cy="640080"/>
          </a:xfrm>
          <a:prstGeom prst="roundRect">
            <a:avLst>
              <a:gd name="adj" fmla="val 8571"/>
            </a:avLst>
          </a:prstGeom>
          <a:solidFill>
            <a:schemeClr val="bg1"/>
          </a:solidFill>
          <a:ln w="12700">
            <a:solidFill>
              <a:srgbClr val="D5DBE6"/>
            </a:solidFill>
            <a:prstDash val="solid"/>
          </a:ln>
        </p:spPr>
        <p:txBody>
          <a:bodyPr wrap="square" lIns="508" tIns="508" rIns="508" bIns="508" rtlCol="0" anchor="ctr"/>
          <a:lstStyle/>
          <a:p>
            <a:pPr marL="0" indent="0" algn="ctr">
              <a:buNone/>
            </a:pPr>
            <a:r>
              <a:rPr lang="en-US" sz="1100" b="1" dirty="0">
                <a:solidFill>
                  <a:schemeClr val="tx1"/>
                </a:solidFill>
              </a:rPr>
              <a:t>Quality + operational results</a:t>
            </a:r>
            <a:endParaRPr lang="en-US" sz="1100" dirty="0"/>
          </a:p>
        </p:txBody>
      </p:sp>
      <p:sp>
        <p:nvSpPr>
          <p:cNvPr id="12" name="arrow-101"/>
          <p:cNvSpPr/>
          <p:nvPr/>
        </p:nvSpPr>
        <p:spPr>
          <a:xfrm>
            <a:off x="7269480" y="1371600"/>
            <a:ext cx="274320" cy="0"/>
          </a:xfrm>
          <a:prstGeom prst="line">
            <a:avLst/>
          </a:prstGeom>
          <a:noFill/>
          <a:ln w="15875">
            <a:solidFill>
              <a:srgbClr val="94A3B8"/>
            </a:solidFill>
            <a:prstDash val="solid"/>
            <a:tailEnd type="triangle"/>
          </a:ln>
        </p:spPr>
        <p:txBody>
          <a:bodyPr/>
          <a:lstStyle/>
          <a:p>
            <a:endParaRPr lang="en-US"/>
          </a:p>
        </p:txBody>
      </p:sp>
      <p:sp>
        <p:nvSpPr>
          <p:cNvPr id="13" name="box-102"/>
          <p:cNvSpPr txBox="1"/>
          <p:nvPr/>
        </p:nvSpPr>
        <p:spPr>
          <a:xfrm>
            <a:off x="7543800" y="1051560"/>
            <a:ext cx="1143000" cy="640080"/>
          </a:xfrm>
          <a:prstGeom prst="roundRect">
            <a:avLst>
              <a:gd name="adj" fmla="val 8571"/>
            </a:avLst>
          </a:prstGeom>
          <a:solidFill>
            <a:schemeClr val="bg1"/>
          </a:solidFill>
          <a:ln w="12700">
            <a:solidFill>
              <a:srgbClr val="D5DBE6"/>
            </a:solidFill>
            <a:prstDash val="solid"/>
          </a:ln>
        </p:spPr>
        <p:txBody>
          <a:bodyPr wrap="square" lIns="508" tIns="508" rIns="508" bIns="508" rtlCol="0" anchor="ctr"/>
          <a:lstStyle/>
          <a:p>
            <a:pPr marL="0" indent="0" algn="ctr">
              <a:buNone/>
            </a:pPr>
            <a:r>
              <a:rPr lang="en-US" sz="1100" b="1" dirty="0">
                <a:solidFill>
                  <a:schemeClr val="tx1"/>
                </a:solidFill>
              </a:rPr>
              <a:t>Recommendation</a:t>
            </a:r>
            <a:endParaRPr lang="en-US" sz="1100" dirty="0"/>
          </a:p>
        </p:txBody>
      </p:sp>
      <p:sp>
        <p:nvSpPr>
          <p:cNvPr id="14" name="line-103"/>
          <p:cNvSpPr/>
          <p:nvPr/>
        </p:nvSpPr>
        <p:spPr>
          <a:xfrm>
            <a:off x="5280660" y="1691640"/>
            <a:ext cx="0" cy="274320"/>
          </a:xfrm>
          <a:prstGeom prst="line">
            <a:avLst/>
          </a:prstGeom>
          <a:noFill/>
          <a:ln w="15875">
            <a:solidFill>
              <a:srgbClr val="94A3B8"/>
            </a:solidFill>
            <a:prstDash val="solid"/>
          </a:ln>
        </p:spPr>
        <p:txBody>
          <a:bodyPr/>
          <a:lstStyle/>
          <a:p>
            <a:endParaRPr lang="en-US"/>
          </a:p>
        </p:txBody>
      </p:sp>
      <p:sp>
        <p:nvSpPr>
          <p:cNvPr id="15" name="line-104"/>
          <p:cNvSpPr/>
          <p:nvPr/>
        </p:nvSpPr>
        <p:spPr>
          <a:xfrm>
            <a:off x="1417320" y="1965960"/>
            <a:ext cx="6309360" cy="0"/>
          </a:xfrm>
          <a:prstGeom prst="line">
            <a:avLst/>
          </a:prstGeom>
          <a:noFill/>
          <a:ln w="15875">
            <a:solidFill>
              <a:srgbClr val="94A3B8"/>
            </a:solidFill>
            <a:prstDash val="solid"/>
          </a:ln>
        </p:spPr>
        <p:txBody>
          <a:bodyPr/>
          <a:lstStyle/>
          <a:p>
            <a:endParaRPr lang="en-US"/>
          </a:p>
        </p:txBody>
      </p:sp>
      <p:sp>
        <p:nvSpPr>
          <p:cNvPr id="16" name="arrow-105"/>
          <p:cNvSpPr/>
          <p:nvPr/>
        </p:nvSpPr>
        <p:spPr>
          <a:xfrm>
            <a:off x="1417320" y="1965960"/>
            <a:ext cx="0" cy="274320"/>
          </a:xfrm>
          <a:prstGeom prst="line">
            <a:avLst/>
          </a:prstGeom>
          <a:noFill/>
          <a:ln w="15875">
            <a:solidFill>
              <a:srgbClr val="94A3B8"/>
            </a:solidFill>
            <a:prstDash val="solid"/>
            <a:tailEnd type="triangle"/>
          </a:ln>
        </p:spPr>
        <p:txBody>
          <a:bodyPr/>
          <a:lstStyle/>
          <a:p>
            <a:endParaRPr lang="en-US"/>
          </a:p>
        </p:txBody>
      </p:sp>
      <p:sp>
        <p:nvSpPr>
          <p:cNvPr id="17" name="card-106"/>
          <p:cNvSpPr/>
          <p:nvPr/>
        </p:nvSpPr>
        <p:spPr>
          <a:xfrm>
            <a:off x="457200" y="2240280"/>
            <a:ext cx="1920240" cy="1828800"/>
          </a:xfrm>
          <a:prstGeom prst="roundRect">
            <a:avLst>
              <a:gd name="adj" fmla="val 3000"/>
            </a:avLst>
          </a:prstGeom>
          <a:solidFill>
            <a:schemeClr val="bg1"/>
          </a:solidFill>
          <a:ln w="19050">
            <a:solidFill>
              <a:schemeClr val="accent5"/>
            </a:solidFill>
            <a:prstDash val="solid"/>
          </a:ln>
        </p:spPr>
        <p:txBody>
          <a:bodyPr/>
          <a:lstStyle/>
          <a:p>
            <a:endParaRPr lang="en-US"/>
          </a:p>
        </p:txBody>
      </p:sp>
      <p:sp>
        <p:nvSpPr>
          <p:cNvPr id="18" name="text-107"/>
          <p:cNvSpPr txBox="1"/>
          <p:nvPr/>
        </p:nvSpPr>
        <p:spPr>
          <a:xfrm>
            <a:off x="594360" y="2359152"/>
            <a:ext cx="1691640" cy="228600"/>
          </a:xfrm>
          <a:prstGeom prst="rect">
            <a:avLst/>
          </a:prstGeom>
          <a:noFill/>
          <a:ln/>
        </p:spPr>
        <p:txBody>
          <a:bodyPr wrap="square" lIns="0" tIns="0" rIns="0" bIns="0" rtlCol="0" anchor="t"/>
          <a:lstStyle/>
          <a:p>
            <a:pPr marL="0" indent="0">
              <a:buNone/>
            </a:pPr>
            <a:r>
              <a:rPr lang="en-US" sz="1000" b="1" dirty="0">
                <a:solidFill>
                  <a:schemeClr val="accent5"/>
                </a:solidFill>
                <a:latin typeface="Courier New" pitchFamily="34" charset="0"/>
                <a:ea typeface="Courier New" pitchFamily="34" charset="-122"/>
                <a:cs typeface="Courier New" pitchFamily="34" charset="-120"/>
              </a:rPr>
              <a:t>REFERENCE-BASED</a:t>
            </a:r>
            <a:endParaRPr lang="en-US" sz="1000" dirty="0"/>
          </a:p>
        </p:txBody>
      </p:sp>
      <p:sp>
        <p:nvSpPr>
          <p:cNvPr id="19" name="text-108"/>
          <p:cNvSpPr txBox="1"/>
          <p:nvPr/>
        </p:nvSpPr>
        <p:spPr>
          <a:xfrm>
            <a:off x="594360" y="2743200"/>
            <a:ext cx="1691640" cy="274320"/>
          </a:xfrm>
          <a:prstGeom prst="rect">
            <a:avLst/>
          </a:prstGeom>
          <a:noFill/>
          <a:ln/>
        </p:spPr>
        <p:txBody>
          <a:bodyPr wrap="square" lIns="0" tIns="0" rIns="0" bIns="0" rtlCol="0" anchor="t"/>
          <a:lstStyle/>
          <a:p>
            <a:pPr marL="0" indent="0">
              <a:buNone/>
            </a:pPr>
            <a:r>
              <a:rPr lang="en-US" sz="1200" dirty="0">
                <a:solidFill>
                  <a:schemeClr val="tx1"/>
                </a:solidFill>
                <a:latin typeface="Courier New" pitchFamily="34" charset="0"/>
                <a:ea typeface="Courier New" pitchFamily="34" charset="-122"/>
                <a:cs typeface="Courier New" pitchFamily="34" charset="-120"/>
              </a:rPr>
              <a:t>Exact Match</a:t>
            </a:r>
            <a:endParaRPr lang="en-US" sz="1200" dirty="0"/>
          </a:p>
        </p:txBody>
      </p:sp>
      <p:sp>
        <p:nvSpPr>
          <p:cNvPr id="20" name="text-109"/>
          <p:cNvSpPr txBox="1"/>
          <p:nvPr/>
        </p:nvSpPr>
        <p:spPr>
          <a:xfrm>
            <a:off x="594360" y="3127248"/>
            <a:ext cx="1691640" cy="274320"/>
          </a:xfrm>
          <a:prstGeom prst="rect">
            <a:avLst/>
          </a:prstGeom>
          <a:noFill/>
          <a:ln/>
        </p:spPr>
        <p:txBody>
          <a:bodyPr wrap="square" lIns="0" tIns="0" rIns="0" bIns="0" rtlCol="0" anchor="t"/>
          <a:lstStyle/>
          <a:p>
            <a:pPr marL="0" indent="0">
              <a:buNone/>
            </a:pPr>
            <a:r>
              <a:rPr lang="en-US" sz="1200" dirty="0">
                <a:solidFill>
                  <a:schemeClr val="tx1"/>
                </a:solidFill>
                <a:latin typeface="Courier New" pitchFamily="34" charset="0"/>
                <a:ea typeface="Courier New" pitchFamily="34" charset="-122"/>
                <a:cs typeface="Courier New" pitchFamily="34" charset="-120"/>
              </a:rPr>
              <a:t>ROUGE-L</a:t>
            </a:r>
            <a:endParaRPr lang="en-US" sz="1200" dirty="0"/>
          </a:p>
        </p:txBody>
      </p:sp>
      <p:sp>
        <p:nvSpPr>
          <p:cNvPr id="21" name="text-110"/>
          <p:cNvSpPr txBox="1"/>
          <p:nvPr/>
        </p:nvSpPr>
        <p:spPr>
          <a:xfrm>
            <a:off x="594360" y="3511296"/>
            <a:ext cx="1691640" cy="274320"/>
          </a:xfrm>
          <a:prstGeom prst="rect">
            <a:avLst/>
          </a:prstGeom>
          <a:noFill/>
          <a:ln/>
        </p:spPr>
        <p:txBody>
          <a:bodyPr wrap="square" lIns="0" tIns="0" rIns="0" bIns="0" rtlCol="0" anchor="t"/>
          <a:lstStyle/>
          <a:p>
            <a:pPr marL="0" indent="0">
              <a:buNone/>
            </a:pPr>
            <a:r>
              <a:rPr lang="en-US" sz="1200" dirty="0">
                <a:solidFill>
                  <a:schemeClr val="tx1"/>
                </a:solidFill>
                <a:latin typeface="Courier New" pitchFamily="34" charset="0"/>
                <a:ea typeface="Courier New" pitchFamily="34" charset="-122"/>
                <a:cs typeface="Courier New" pitchFamily="34" charset="-120"/>
              </a:rPr>
              <a:t>BLEU</a:t>
            </a:r>
            <a:endParaRPr lang="en-US" sz="1200" dirty="0"/>
          </a:p>
        </p:txBody>
      </p:sp>
      <p:sp>
        <p:nvSpPr>
          <p:cNvPr id="22" name="arrow-111"/>
          <p:cNvSpPr/>
          <p:nvPr/>
        </p:nvSpPr>
        <p:spPr>
          <a:xfrm>
            <a:off x="3520440" y="1965960"/>
            <a:ext cx="0" cy="274320"/>
          </a:xfrm>
          <a:prstGeom prst="line">
            <a:avLst/>
          </a:prstGeom>
          <a:noFill/>
          <a:ln w="15875">
            <a:solidFill>
              <a:srgbClr val="94A3B8"/>
            </a:solidFill>
            <a:prstDash val="solid"/>
            <a:tailEnd type="triangle"/>
          </a:ln>
        </p:spPr>
        <p:txBody>
          <a:bodyPr/>
          <a:lstStyle/>
          <a:p>
            <a:endParaRPr lang="en-US"/>
          </a:p>
        </p:txBody>
      </p:sp>
      <p:sp>
        <p:nvSpPr>
          <p:cNvPr id="23" name="card-112"/>
          <p:cNvSpPr/>
          <p:nvPr/>
        </p:nvSpPr>
        <p:spPr>
          <a:xfrm>
            <a:off x="2560320" y="2240280"/>
            <a:ext cx="1920240" cy="1828800"/>
          </a:xfrm>
          <a:prstGeom prst="roundRect">
            <a:avLst>
              <a:gd name="adj" fmla="val 3000"/>
            </a:avLst>
          </a:prstGeom>
          <a:solidFill>
            <a:schemeClr val="bg1"/>
          </a:solidFill>
          <a:ln w="19050">
            <a:solidFill>
              <a:schemeClr val="accent3"/>
            </a:solidFill>
            <a:prstDash val="solid"/>
          </a:ln>
        </p:spPr>
        <p:txBody>
          <a:bodyPr/>
          <a:lstStyle/>
          <a:p>
            <a:endParaRPr lang="en-US"/>
          </a:p>
        </p:txBody>
      </p:sp>
      <p:sp>
        <p:nvSpPr>
          <p:cNvPr id="24" name="text-113"/>
          <p:cNvSpPr txBox="1"/>
          <p:nvPr/>
        </p:nvSpPr>
        <p:spPr>
          <a:xfrm>
            <a:off x="2697480" y="2359152"/>
            <a:ext cx="1691640" cy="228600"/>
          </a:xfrm>
          <a:prstGeom prst="rect">
            <a:avLst/>
          </a:prstGeom>
          <a:noFill/>
          <a:ln/>
        </p:spPr>
        <p:txBody>
          <a:bodyPr wrap="square" lIns="0" tIns="0" rIns="0" bIns="0" rtlCol="0" anchor="t"/>
          <a:lstStyle/>
          <a:p>
            <a:pPr marL="0" indent="0">
              <a:buNone/>
            </a:pPr>
            <a:r>
              <a:rPr lang="en-US" sz="1000" b="1" dirty="0">
                <a:solidFill>
                  <a:schemeClr val="accent3"/>
                </a:solidFill>
                <a:latin typeface="Courier New" pitchFamily="34" charset="0"/>
                <a:ea typeface="Courier New" pitchFamily="34" charset="-122"/>
                <a:cs typeface="Courier New" pitchFamily="34" charset="-120"/>
              </a:rPr>
              <a:t>MODEL-BASED</a:t>
            </a:r>
            <a:endParaRPr lang="en-US" sz="1000" dirty="0"/>
          </a:p>
        </p:txBody>
      </p:sp>
      <p:sp>
        <p:nvSpPr>
          <p:cNvPr id="25" name="text-114"/>
          <p:cNvSpPr txBox="1"/>
          <p:nvPr/>
        </p:nvSpPr>
        <p:spPr>
          <a:xfrm>
            <a:off x="2697480" y="2743200"/>
            <a:ext cx="1691640" cy="274320"/>
          </a:xfrm>
          <a:prstGeom prst="rect">
            <a:avLst/>
          </a:prstGeom>
          <a:noFill/>
          <a:ln/>
        </p:spPr>
        <p:txBody>
          <a:bodyPr wrap="square" lIns="0" tIns="0" rIns="0" bIns="0" rtlCol="0" anchor="t"/>
          <a:lstStyle/>
          <a:p>
            <a:pPr marL="0" indent="0">
              <a:buNone/>
            </a:pPr>
            <a:r>
              <a:rPr lang="en-US" sz="1200" dirty="0">
                <a:solidFill>
                  <a:schemeClr val="tx1"/>
                </a:solidFill>
                <a:latin typeface="Courier New" pitchFamily="34" charset="0"/>
                <a:ea typeface="Courier New" pitchFamily="34" charset="-122"/>
                <a:cs typeface="Courier New" pitchFamily="34" charset="-120"/>
              </a:rPr>
              <a:t>LLM Judge</a:t>
            </a:r>
            <a:endParaRPr lang="en-US" sz="1200" dirty="0"/>
          </a:p>
        </p:txBody>
      </p:sp>
      <p:sp>
        <p:nvSpPr>
          <p:cNvPr id="26" name="text-115"/>
          <p:cNvSpPr txBox="1"/>
          <p:nvPr/>
        </p:nvSpPr>
        <p:spPr>
          <a:xfrm>
            <a:off x="2697480" y="3127248"/>
            <a:ext cx="1691640" cy="274320"/>
          </a:xfrm>
          <a:prstGeom prst="rect">
            <a:avLst/>
          </a:prstGeom>
          <a:noFill/>
          <a:ln/>
        </p:spPr>
        <p:txBody>
          <a:bodyPr wrap="square" lIns="0" tIns="0" rIns="0" bIns="0" rtlCol="0" anchor="t"/>
          <a:lstStyle/>
          <a:p>
            <a:pPr marL="0" indent="0">
              <a:buNone/>
            </a:pPr>
            <a:r>
              <a:rPr lang="en-US" sz="1150" dirty="0">
                <a:solidFill>
                  <a:schemeClr val="accent5"/>
                </a:solidFill>
              </a:rPr>
              <a:t>Quality, relevance</a:t>
            </a:r>
            <a:endParaRPr lang="en-US" sz="1150" dirty="0"/>
          </a:p>
        </p:txBody>
      </p:sp>
      <p:sp>
        <p:nvSpPr>
          <p:cNvPr id="27" name="arrow-116"/>
          <p:cNvSpPr/>
          <p:nvPr/>
        </p:nvSpPr>
        <p:spPr>
          <a:xfrm>
            <a:off x="5623560" y="1965960"/>
            <a:ext cx="0" cy="274320"/>
          </a:xfrm>
          <a:prstGeom prst="line">
            <a:avLst/>
          </a:prstGeom>
          <a:noFill/>
          <a:ln w="15875">
            <a:solidFill>
              <a:srgbClr val="94A3B8"/>
            </a:solidFill>
            <a:prstDash val="solid"/>
            <a:tailEnd type="triangle"/>
          </a:ln>
        </p:spPr>
        <p:txBody>
          <a:bodyPr/>
          <a:lstStyle/>
          <a:p>
            <a:endParaRPr lang="en-US"/>
          </a:p>
        </p:txBody>
      </p:sp>
      <p:sp>
        <p:nvSpPr>
          <p:cNvPr id="28" name="card-117"/>
          <p:cNvSpPr/>
          <p:nvPr/>
        </p:nvSpPr>
        <p:spPr>
          <a:xfrm>
            <a:off x="4663440" y="2240280"/>
            <a:ext cx="1920240" cy="1828800"/>
          </a:xfrm>
          <a:prstGeom prst="roundRect">
            <a:avLst>
              <a:gd name="adj" fmla="val 3000"/>
            </a:avLst>
          </a:prstGeom>
          <a:solidFill>
            <a:schemeClr val="bg1"/>
          </a:solidFill>
          <a:ln w="19050">
            <a:solidFill>
              <a:schemeClr val="accent4"/>
            </a:solidFill>
            <a:prstDash val="solid"/>
          </a:ln>
        </p:spPr>
        <p:txBody>
          <a:bodyPr/>
          <a:lstStyle/>
          <a:p>
            <a:endParaRPr lang="en-US"/>
          </a:p>
        </p:txBody>
      </p:sp>
      <p:sp>
        <p:nvSpPr>
          <p:cNvPr id="29" name="text-118"/>
          <p:cNvSpPr txBox="1"/>
          <p:nvPr/>
        </p:nvSpPr>
        <p:spPr>
          <a:xfrm>
            <a:off x="4800600" y="2359152"/>
            <a:ext cx="1691640" cy="228600"/>
          </a:xfrm>
          <a:prstGeom prst="rect">
            <a:avLst/>
          </a:prstGeom>
          <a:noFill/>
          <a:ln/>
        </p:spPr>
        <p:txBody>
          <a:bodyPr wrap="square" lIns="0" tIns="0" rIns="0" bIns="0" rtlCol="0" anchor="t"/>
          <a:lstStyle/>
          <a:p>
            <a:pPr marL="0" indent="0">
              <a:buNone/>
            </a:pPr>
            <a:r>
              <a:rPr lang="en-US" sz="1000" b="1" dirty="0">
                <a:solidFill>
                  <a:schemeClr val="accent4"/>
                </a:solidFill>
                <a:latin typeface="Courier New" pitchFamily="34" charset="0"/>
                <a:ea typeface="Courier New" pitchFamily="34" charset="-122"/>
                <a:cs typeface="Courier New" pitchFamily="34" charset="-120"/>
              </a:rPr>
              <a:t>RAG-SPECIFIC</a:t>
            </a:r>
            <a:endParaRPr lang="en-US" sz="1000" dirty="0"/>
          </a:p>
        </p:txBody>
      </p:sp>
      <p:sp>
        <p:nvSpPr>
          <p:cNvPr id="30" name="text-119"/>
          <p:cNvSpPr txBox="1"/>
          <p:nvPr/>
        </p:nvSpPr>
        <p:spPr>
          <a:xfrm>
            <a:off x="4800600" y="2743200"/>
            <a:ext cx="1691640" cy="274320"/>
          </a:xfrm>
          <a:prstGeom prst="rect">
            <a:avLst/>
          </a:prstGeom>
          <a:noFill/>
          <a:ln/>
        </p:spPr>
        <p:txBody>
          <a:bodyPr wrap="square" lIns="0" tIns="0" rIns="0" bIns="0" rtlCol="0" anchor="t"/>
          <a:lstStyle/>
          <a:p>
            <a:pPr marL="0" indent="0">
              <a:buNone/>
            </a:pPr>
            <a:r>
              <a:rPr lang="en-US" sz="1200" dirty="0">
                <a:solidFill>
                  <a:schemeClr val="tx1"/>
                </a:solidFill>
                <a:latin typeface="Courier New" pitchFamily="34" charset="0"/>
                <a:ea typeface="Courier New" pitchFamily="34" charset="-122"/>
                <a:cs typeface="Courier New" pitchFamily="34" charset="-120"/>
              </a:rPr>
              <a:t>Grounding</a:t>
            </a:r>
            <a:endParaRPr lang="en-US" sz="1200" dirty="0"/>
          </a:p>
        </p:txBody>
      </p:sp>
      <p:sp>
        <p:nvSpPr>
          <p:cNvPr id="31" name="text-120"/>
          <p:cNvSpPr txBox="1"/>
          <p:nvPr/>
        </p:nvSpPr>
        <p:spPr>
          <a:xfrm>
            <a:off x="4800600" y="3127248"/>
            <a:ext cx="1691640" cy="274320"/>
          </a:xfrm>
          <a:prstGeom prst="rect">
            <a:avLst/>
          </a:prstGeom>
          <a:noFill/>
          <a:ln/>
        </p:spPr>
        <p:txBody>
          <a:bodyPr wrap="square" lIns="0" tIns="0" rIns="0" bIns="0" rtlCol="0" anchor="t"/>
          <a:lstStyle/>
          <a:p>
            <a:pPr marL="0" indent="0">
              <a:buNone/>
            </a:pPr>
            <a:r>
              <a:rPr lang="en-US" sz="1200" dirty="0">
                <a:solidFill>
                  <a:schemeClr val="tx1"/>
                </a:solidFill>
                <a:latin typeface="Courier New" pitchFamily="34" charset="0"/>
                <a:ea typeface="Courier New" pitchFamily="34" charset="-122"/>
                <a:cs typeface="Courier New" pitchFamily="34" charset="-120"/>
              </a:rPr>
              <a:t>Factuality</a:t>
            </a:r>
            <a:endParaRPr lang="en-US" sz="1200" dirty="0"/>
          </a:p>
        </p:txBody>
      </p:sp>
      <p:sp>
        <p:nvSpPr>
          <p:cNvPr id="32" name="arrow-121"/>
          <p:cNvSpPr/>
          <p:nvPr/>
        </p:nvSpPr>
        <p:spPr>
          <a:xfrm>
            <a:off x="7726680" y="1965960"/>
            <a:ext cx="0" cy="274320"/>
          </a:xfrm>
          <a:prstGeom prst="line">
            <a:avLst/>
          </a:prstGeom>
          <a:noFill/>
          <a:ln w="15875">
            <a:solidFill>
              <a:srgbClr val="94A3B8"/>
            </a:solidFill>
            <a:prstDash val="solid"/>
            <a:tailEnd type="triangle"/>
          </a:ln>
        </p:spPr>
        <p:txBody>
          <a:bodyPr/>
          <a:lstStyle/>
          <a:p>
            <a:endParaRPr lang="en-US"/>
          </a:p>
        </p:txBody>
      </p:sp>
      <p:sp>
        <p:nvSpPr>
          <p:cNvPr id="33" name="card-122"/>
          <p:cNvSpPr/>
          <p:nvPr/>
        </p:nvSpPr>
        <p:spPr>
          <a:xfrm>
            <a:off x="6766560" y="2240280"/>
            <a:ext cx="1920240" cy="1828800"/>
          </a:xfrm>
          <a:prstGeom prst="roundRect">
            <a:avLst>
              <a:gd name="adj" fmla="val 3000"/>
            </a:avLst>
          </a:prstGeom>
          <a:solidFill>
            <a:schemeClr val="bg1"/>
          </a:solidFill>
          <a:ln w="19050">
            <a:solidFill>
              <a:schemeClr val="tx2"/>
            </a:solidFill>
            <a:prstDash val="solid"/>
          </a:ln>
        </p:spPr>
        <p:txBody>
          <a:bodyPr/>
          <a:lstStyle/>
          <a:p>
            <a:endParaRPr lang="en-US"/>
          </a:p>
        </p:txBody>
      </p:sp>
      <p:sp>
        <p:nvSpPr>
          <p:cNvPr id="34" name="text-123"/>
          <p:cNvSpPr txBox="1"/>
          <p:nvPr/>
        </p:nvSpPr>
        <p:spPr>
          <a:xfrm>
            <a:off x="6903720" y="2359152"/>
            <a:ext cx="1691640" cy="228600"/>
          </a:xfrm>
          <a:prstGeom prst="rect">
            <a:avLst/>
          </a:prstGeom>
          <a:noFill/>
          <a:ln/>
        </p:spPr>
        <p:txBody>
          <a:bodyPr wrap="square" lIns="0" tIns="0" rIns="0" bIns="0" rtlCol="0" anchor="t"/>
          <a:lstStyle/>
          <a:p>
            <a:pPr marL="0" indent="0">
              <a:buNone/>
            </a:pPr>
            <a:r>
              <a:rPr lang="en-US" sz="1000" b="1" dirty="0">
                <a:solidFill>
                  <a:schemeClr val="tx2"/>
                </a:solidFill>
                <a:latin typeface="Courier New" pitchFamily="34" charset="0"/>
                <a:ea typeface="Courier New" pitchFamily="34" charset="-122"/>
                <a:cs typeface="Courier New" pitchFamily="34" charset="-120"/>
              </a:rPr>
              <a:t>OPERATIONAL</a:t>
            </a:r>
            <a:endParaRPr lang="en-US" sz="1000" dirty="0"/>
          </a:p>
        </p:txBody>
      </p:sp>
      <p:sp>
        <p:nvSpPr>
          <p:cNvPr id="35" name="text-124"/>
          <p:cNvSpPr txBox="1"/>
          <p:nvPr/>
        </p:nvSpPr>
        <p:spPr>
          <a:xfrm>
            <a:off x="6903720" y="2743200"/>
            <a:ext cx="1691640" cy="274320"/>
          </a:xfrm>
          <a:prstGeom prst="rect">
            <a:avLst/>
          </a:prstGeom>
          <a:noFill/>
          <a:ln/>
        </p:spPr>
        <p:txBody>
          <a:bodyPr wrap="square" lIns="0" tIns="0" rIns="0" bIns="0" rtlCol="0" anchor="t"/>
          <a:lstStyle/>
          <a:p>
            <a:pPr marL="0" indent="0">
              <a:buNone/>
            </a:pPr>
            <a:r>
              <a:rPr lang="en-US" sz="1200" dirty="0">
                <a:solidFill>
                  <a:schemeClr val="tx1"/>
                </a:solidFill>
                <a:latin typeface="Courier New" pitchFamily="34" charset="0"/>
                <a:ea typeface="Courier New" pitchFamily="34" charset="-122"/>
                <a:cs typeface="Courier New" pitchFamily="34" charset="-120"/>
              </a:rPr>
              <a:t>Latency</a:t>
            </a:r>
            <a:endParaRPr lang="en-US" sz="1200" dirty="0"/>
          </a:p>
        </p:txBody>
      </p:sp>
      <p:sp>
        <p:nvSpPr>
          <p:cNvPr id="36" name="text-125"/>
          <p:cNvSpPr txBox="1"/>
          <p:nvPr/>
        </p:nvSpPr>
        <p:spPr>
          <a:xfrm>
            <a:off x="6903720" y="3127248"/>
            <a:ext cx="1691640" cy="274320"/>
          </a:xfrm>
          <a:prstGeom prst="rect">
            <a:avLst/>
          </a:prstGeom>
          <a:noFill/>
          <a:ln/>
        </p:spPr>
        <p:txBody>
          <a:bodyPr wrap="square" lIns="0" tIns="0" rIns="0" bIns="0" rtlCol="0" anchor="t"/>
          <a:lstStyle/>
          <a:p>
            <a:pPr marL="0" indent="0">
              <a:buNone/>
            </a:pPr>
            <a:r>
              <a:rPr lang="en-US" sz="1200" dirty="0">
                <a:solidFill>
                  <a:schemeClr val="tx1"/>
                </a:solidFill>
                <a:latin typeface="Courier New" pitchFamily="34" charset="0"/>
                <a:ea typeface="Courier New" pitchFamily="34" charset="-122"/>
                <a:cs typeface="Courier New" pitchFamily="34" charset="-120"/>
              </a:rPr>
              <a:t>Token Usage</a:t>
            </a:r>
            <a:endParaRPr lang="en-US" sz="1200" dirty="0"/>
          </a:p>
        </p:txBody>
      </p:sp>
      <p:sp>
        <p:nvSpPr>
          <p:cNvPr id="37" name="text-126"/>
          <p:cNvSpPr txBox="1"/>
          <p:nvPr/>
        </p:nvSpPr>
        <p:spPr>
          <a:xfrm>
            <a:off x="6903720" y="3511296"/>
            <a:ext cx="1691640" cy="274320"/>
          </a:xfrm>
          <a:prstGeom prst="rect">
            <a:avLst/>
          </a:prstGeom>
          <a:noFill/>
          <a:ln/>
        </p:spPr>
        <p:txBody>
          <a:bodyPr wrap="square" lIns="0" tIns="0" rIns="0" bIns="0" rtlCol="0" anchor="t"/>
          <a:lstStyle/>
          <a:p>
            <a:pPr marL="0" indent="0">
              <a:buNone/>
            </a:pPr>
            <a:r>
              <a:rPr lang="en-US" sz="1200" dirty="0">
                <a:solidFill>
                  <a:schemeClr val="tx1"/>
                </a:solidFill>
                <a:latin typeface="Courier New" pitchFamily="34" charset="0"/>
                <a:ea typeface="Courier New" pitchFamily="34" charset="-122"/>
                <a:cs typeface="Courier New" pitchFamily="34" charset="-120"/>
              </a:rPr>
              <a:t>Estimated Cost</a:t>
            </a:r>
            <a:endParaRPr lang="en-US" sz="1200" dirty="0"/>
          </a:p>
        </p:txBody>
      </p:sp>
      <p:sp>
        <p:nvSpPr>
          <p:cNvPr id="38" name="box-127"/>
          <p:cNvSpPr txBox="1"/>
          <p:nvPr/>
        </p:nvSpPr>
        <p:spPr>
          <a:xfrm>
            <a:off x="457200" y="4206240"/>
            <a:ext cx="8229600" cy="411480"/>
          </a:xfrm>
          <a:prstGeom prst="roundRect">
            <a:avLst>
              <a:gd name="adj" fmla="val 13333"/>
            </a:avLst>
          </a:prstGeom>
          <a:solidFill>
            <a:schemeClr val="tx1"/>
          </a:solidFill>
          <a:ln w="12700">
            <a:solidFill>
              <a:schemeClr val="tx1"/>
            </a:solidFill>
            <a:prstDash val="solid"/>
          </a:ln>
        </p:spPr>
        <p:txBody>
          <a:bodyPr wrap="square" lIns="508" tIns="508" rIns="508" bIns="508" rtlCol="0" anchor="ctr"/>
          <a:lstStyle/>
          <a:p>
            <a:pPr marL="0" indent="0" algn="ctr">
              <a:buNone/>
            </a:pPr>
            <a:r>
              <a:rPr lang="en-US" sz="1250" dirty="0">
                <a:solidFill>
                  <a:schemeClr val="bg1"/>
                </a:solidFill>
              </a:rPr>
              <a:t>Multiple evaluation signals are combined into one result; no single metric decides.</a:t>
            </a:r>
            <a:endParaRPr lang="en-US" sz="1250" dirty="0"/>
          </a:p>
        </p:txBody>
      </p:sp>
      <p:sp>
        <p:nvSpPr>
          <p:cNvPr id="39"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94A3B8"/>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548640"/>
          </a:xfrm>
          <a:prstGeom prst="rect">
            <a:avLst/>
          </a:prstGeom>
          <a:noFill/>
          <a:ln/>
        </p:spPr>
        <p:txBody>
          <a:bodyPr wrap="square" lIns="0" tIns="0" rIns="0" bIns="0" rtlCol="0" anchor="ctr"/>
          <a:lstStyle/>
          <a:p>
            <a:pPr marL="0" indent="0" algn="l">
              <a:buNone/>
            </a:pPr>
            <a:r>
              <a:rPr lang="en-US" sz="2600" b="1" dirty="0">
                <a:solidFill>
                  <a:schemeClr val="tx1"/>
                </a:solidFill>
              </a:rPr>
              <a:t>Beyond Exact-Match Metrics</a:t>
            </a:r>
            <a:endParaRPr lang="en-US" sz="2600" dirty="0"/>
          </a:p>
        </p:txBody>
      </p:sp>
      <p:sp>
        <p:nvSpPr>
          <p:cNvPr id="3" name="box-128"/>
          <p:cNvSpPr txBox="1"/>
          <p:nvPr/>
        </p:nvSpPr>
        <p:spPr>
          <a:xfrm>
            <a:off x="457200" y="960120"/>
            <a:ext cx="4023360" cy="347472"/>
          </a:xfrm>
          <a:prstGeom prst="roundRect">
            <a:avLst>
              <a:gd name="adj" fmla="val 15789"/>
            </a:avLst>
          </a:prstGeom>
          <a:solidFill>
            <a:schemeClr val="bg1"/>
          </a:solidFill>
          <a:ln w="12700">
            <a:solidFill>
              <a:srgbClr val="D5DBE6"/>
            </a:solidFill>
            <a:prstDash val="solid"/>
          </a:ln>
        </p:spPr>
        <p:txBody>
          <a:bodyPr wrap="square" lIns="508" tIns="508" rIns="508" bIns="508" rtlCol="0" anchor="ctr"/>
          <a:lstStyle/>
          <a:p>
            <a:pPr marL="0" indent="0" algn="ctr">
              <a:buNone/>
            </a:pPr>
            <a:r>
              <a:rPr lang="en-US" sz="1200" b="1" dirty="0">
                <a:solidFill>
                  <a:schemeClr val="tx1"/>
                </a:solidFill>
              </a:rPr>
              <a:t>Generated answer</a:t>
            </a:r>
            <a:endParaRPr lang="en-US" sz="1200" dirty="0"/>
          </a:p>
        </p:txBody>
      </p:sp>
      <p:sp>
        <p:nvSpPr>
          <p:cNvPr id="4" name="arrow-129"/>
          <p:cNvSpPr/>
          <p:nvPr/>
        </p:nvSpPr>
        <p:spPr>
          <a:xfrm>
            <a:off x="2468880" y="1307592"/>
            <a:ext cx="0" cy="173736"/>
          </a:xfrm>
          <a:prstGeom prst="line">
            <a:avLst/>
          </a:prstGeom>
          <a:noFill/>
          <a:ln w="15875">
            <a:solidFill>
              <a:srgbClr val="94A3B8"/>
            </a:solidFill>
            <a:prstDash val="solid"/>
            <a:tailEnd type="triangle"/>
          </a:ln>
        </p:spPr>
        <p:txBody>
          <a:bodyPr/>
          <a:lstStyle/>
          <a:p>
            <a:endParaRPr lang="en-US"/>
          </a:p>
        </p:txBody>
      </p:sp>
      <p:sp>
        <p:nvSpPr>
          <p:cNvPr id="5" name="box-130"/>
          <p:cNvSpPr txBox="1"/>
          <p:nvPr/>
        </p:nvSpPr>
        <p:spPr>
          <a:xfrm>
            <a:off x="457200" y="1481328"/>
            <a:ext cx="4023360" cy="347472"/>
          </a:xfrm>
          <a:prstGeom prst="roundRect">
            <a:avLst>
              <a:gd name="adj" fmla="val 15789"/>
            </a:avLst>
          </a:prstGeom>
          <a:solidFill>
            <a:schemeClr val="accent3"/>
          </a:solidFill>
          <a:ln w="12700">
            <a:solidFill>
              <a:schemeClr val="accent3"/>
            </a:solidFill>
            <a:prstDash val="solid"/>
          </a:ln>
        </p:spPr>
        <p:txBody>
          <a:bodyPr wrap="square" lIns="508" tIns="508" rIns="508" bIns="508" rtlCol="0" anchor="ctr"/>
          <a:lstStyle/>
          <a:p>
            <a:pPr marL="0" indent="0" algn="ctr">
              <a:buNone/>
            </a:pPr>
            <a:r>
              <a:rPr lang="en-US" sz="1200" b="1" dirty="0">
                <a:solidFill>
                  <a:schemeClr val="bg1"/>
                </a:solidFill>
              </a:rPr>
              <a:t>LLM Judge</a:t>
            </a:r>
            <a:endParaRPr lang="en-US" sz="1200" dirty="0"/>
          </a:p>
        </p:txBody>
      </p:sp>
      <p:sp>
        <p:nvSpPr>
          <p:cNvPr id="6" name="arrow-131"/>
          <p:cNvSpPr/>
          <p:nvPr/>
        </p:nvSpPr>
        <p:spPr>
          <a:xfrm>
            <a:off x="2468880" y="1828800"/>
            <a:ext cx="0" cy="164592"/>
          </a:xfrm>
          <a:prstGeom prst="line">
            <a:avLst/>
          </a:prstGeom>
          <a:noFill/>
          <a:ln w="15875">
            <a:solidFill>
              <a:srgbClr val="94A3B8"/>
            </a:solidFill>
            <a:prstDash val="solid"/>
            <a:tailEnd type="triangle"/>
          </a:ln>
        </p:spPr>
        <p:txBody>
          <a:bodyPr/>
          <a:lstStyle/>
          <a:p>
            <a:endParaRPr lang="en-US"/>
          </a:p>
        </p:txBody>
      </p:sp>
      <p:sp>
        <p:nvSpPr>
          <p:cNvPr id="7" name="box-132"/>
          <p:cNvSpPr txBox="1"/>
          <p:nvPr/>
        </p:nvSpPr>
        <p:spPr>
          <a:xfrm>
            <a:off x="457200" y="1993392"/>
            <a:ext cx="1252728" cy="310896"/>
          </a:xfrm>
          <a:prstGeom prst="roundRect">
            <a:avLst>
              <a:gd name="adj" fmla="val 17647"/>
            </a:avLst>
          </a:prstGeom>
          <a:solidFill>
            <a:srgbClr val="EEF2F8"/>
          </a:solidFill>
          <a:ln w="12700">
            <a:solidFill>
              <a:schemeClr val="accent3"/>
            </a:solidFill>
            <a:prstDash val="solid"/>
          </a:ln>
        </p:spPr>
        <p:txBody>
          <a:bodyPr wrap="square" lIns="508" tIns="508" rIns="508" bIns="508" rtlCol="0" anchor="ctr"/>
          <a:lstStyle/>
          <a:p>
            <a:pPr marL="0" indent="0" algn="ctr">
              <a:buNone/>
            </a:pPr>
            <a:r>
              <a:rPr lang="en-US" sz="1150" b="1" dirty="0">
                <a:solidFill>
                  <a:schemeClr val="tx1"/>
                </a:solidFill>
              </a:rPr>
              <a:t>Quality</a:t>
            </a:r>
            <a:endParaRPr lang="en-US" sz="1150" dirty="0"/>
          </a:p>
        </p:txBody>
      </p:sp>
      <p:sp>
        <p:nvSpPr>
          <p:cNvPr id="8" name="box-133"/>
          <p:cNvSpPr txBox="1"/>
          <p:nvPr/>
        </p:nvSpPr>
        <p:spPr>
          <a:xfrm>
            <a:off x="1842516" y="1993392"/>
            <a:ext cx="1252728" cy="310896"/>
          </a:xfrm>
          <a:prstGeom prst="roundRect">
            <a:avLst>
              <a:gd name="adj" fmla="val 17647"/>
            </a:avLst>
          </a:prstGeom>
          <a:solidFill>
            <a:srgbClr val="EEF2F8"/>
          </a:solidFill>
          <a:ln w="12700">
            <a:solidFill>
              <a:schemeClr val="accent3"/>
            </a:solidFill>
            <a:prstDash val="solid"/>
          </a:ln>
        </p:spPr>
        <p:txBody>
          <a:bodyPr wrap="square" lIns="508" tIns="508" rIns="508" bIns="508" rtlCol="0" anchor="ctr"/>
          <a:lstStyle/>
          <a:p>
            <a:pPr marL="0" indent="0" algn="ctr">
              <a:buNone/>
            </a:pPr>
            <a:r>
              <a:rPr lang="en-US" sz="1150" b="1" dirty="0">
                <a:solidFill>
                  <a:schemeClr val="tx1"/>
                </a:solidFill>
              </a:rPr>
              <a:t>Relevance</a:t>
            </a:r>
            <a:endParaRPr lang="en-US" sz="1150" dirty="0"/>
          </a:p>
        </p:txBody>
      </p:sp>
      <p:sp>
        <p:nvSpPr>
          <p:cNvPr id="9" name="box-134"/>
          <p:cNvSpPr txBox="1"/>
          <p:nvPr/>
        </p:nvSpPr>
        <p:spPr>
          <a:xfrm>
            <a:off x="3227832" y="1993392"/>
            <a:ext cx="1252728" cy="310896"/>
          </a:xfrm>
          <a:prstGeom prst="roundRect">
            <a:avLst>
              <a:gd name="adj" fmla="val 17647"/>
            </a:avLst>
          </a:prstGeom>
          <a:solidFill>
            <a:srgbClr val="EEF2F8"/>
          </a:solidFill>
          <a:ln w="12700">
            <a:solidFill>
              <a:schemeClr val="accent3"/>
            </a:solidFill>
            <a:prstDash val="solid"/>
          </a:ln>
        </p:spPr>
        <p:txBody>
          <a:bodyPr wrap="square" lIns="508" tIns="508" rIns="508" bIns="508" rtlCol="0" anchor="ctr"/>
          <a:lstStyle/>
          <a:p>
            <a:pPr marL="0" indent="0" algn="ctr">
              <a:buNone/>
            </a:pPr>
            <a:r>
              <a:rPr lang="en-US" sz="1150" b="1" dirty="0">
                <a:solidFill>
                  <a:schemeClr val="tx1"/>
                </a:solidFill>
              </a:rPr>
              <a:t>Factuality</a:t>
            </a:r>
            <a:endParaRPr lang="en-US" sz="1150" dirty="0"/>
          </a:p>
        </p:txBody>
      </p:sp>
      <p:sp>
        <p:nvSpPr>
          <p:cNvPr id="10" name="text-135"/>
          <p:cNvSpPr txBox="1"/>
          <p:nvPr/>
        </p:nvSpPr>
        <p:spPr>
          <a:xfrm>
            <a:off x="457200" y="2423160"/>
            <a:ext cx="4023360" cy="201168"/>
          </a:xfrm>
          <a:prstGeom prst="rect">
            <a:avLst/>
          </a:prstGeom>
          <a:noFill/>
          <a:ln/>
        </p:spPr>
        <p:txBody>
          <a:bodyPr wrap="square" lIns="0" tIns="0" rIns="0" bIns="0" rtlCol="0" anchor="t"/>
          <a:lstStyle/>
          <a:p>
            <a:pPr marL="0" indent="0">
              <a:buNone/>
            </a:pPr>
            <a:r>
              <a:rPr lang="en-US" sz="1000" b="1" dirty="0">
                <a:solidFill>
                  <a:schemeClr val="accent5"/>
                </a:solidFill>
                <a:latin typeface="Courier New" pitchFamily="34" charset="0"/>
                <a:ea typeface="Courier New" pitchFamily="34" charset="-122"/>
                <a:cs typeface="Courier New" pitchFamily="34" charset="-120"/>
              </a:rPr>
              <a:t>FACTUALITY CLASSIFICATION</a:t>
            </a:r>
            <a:endParaRPr lang="en-US" sz="1000" dirty="0"/>
          </a:p>
        </p:txBody>
      </p:sp>
      <p:sp>
        <p:nvSpPr>
          <p:cNvPr id="11" name="box-136"/>
          <p:cNvSpPr txBox="1"/>
          <p:nvPr/>
        </p:nvSpPr>
        <p:spPr>
          <a:xfrm>
            <a:off x="457200" y="2651760"/>
            <a:ext cx="310896" cy="237744"/>
          </a:xfrm>
          <a:prstGeom prst="roundRect">
            <a:avLst>
              <a:gd name="adj" fmla="val 23077"/>
            </a:avLst>
          </a:prstGeom>
          <a:solidFill>
            <a:srgbClr val="0E9F8E"/>
          </a:solidFill>
          <a:ln w="12700">
            <a:solidFill>
              <a:srgbClr val="0E9F8E"/>
            </a:solidFill>
            <a:prstDash val="solid"/>
          </a:ln>
        </p:spPr>
        <p:txBody>
          <a:bodyPr wrap="square" lIns="508" tIns="508" rIns="508" bIns="508" rtlCol="0" anchor="ctr"/>
          <a:lstStyle/>
          <a:p>
            <a:pPr marL="0" indent="0" algn="ctr">
              <a:buNone/>
            </a:pPr>
            <a:r>
              <a:rPr lang="en-US" sz="1100" b="1" dirty="0">
                <a:solidFill>
                  <a:schemeClr val="bg1"/>
                </a:solidFill>
              </a:rPr>
              <a:t>A</a:t>
            </a:r>
            <a:endParaRPr lang="en-US" sz="1100" dirty="0"/>
          </a:p>
        </p:txBody>
      </p:sp>
      <p:sp>
        <p:nvSpPr>
          <p:cNvPr id="12" name="text-137"/>
          <p:cNvSpPr txBox="1"/>
          <p:nvPr/>
        </p:nvSpPr>
        <p:spPr>
          <a:xfrm>
            <a:off x="896112" y="2651760"/>
            <a:ext cx="3474720" cy="237744"/>
          </a:xfrm>
          <a:prstGeom prst="rect">
            <a:avLst/>
          </a:prstGeom>
          <a:noFill/>
          <a:ln/>
        </p:spPr>
        <p:txBody>
          <a:bodyPr wrap="square" lIns="0" tIns="0" rIns="0" bIns="0" rtlCol="0" anchor="ctr"/>
          <a:lstStyle/>
          <a:p>
            <a:pPr marL="0" indent="0">
              <a:buNone/>
            </a:pPr>
            <a:r>
              <a:rPr lang="en-US" sz="1200" dirty="0">
                <a:solidFill>
                  <a:schemeClr val="tx1"/>
                </a:solidFill>
              </a:rPr>
              <a:t>Fully supported</a:t>
            </a:r>
            <a:endParaRPr lang="en-US" sz="1200" dirty="0"/>
          </a:p>
        </p:txBody>
      </p:sp>
      <p:sp>
        <p:nvSpPr>
          <p:cNvPr id="13" name="box-138"/>
          <p:cNvSpPr txBox="1"/>
          <p:nvPr/>
        </p:nvSpPr>
        <p:spPr>
          <a:xfrm>
            <a:off x="457200" y="2926080"/>
            <a:ext cx="310896" cy="237744"/>
          </a:xfrm>
          <a:prstGeom prst="roundRect">
            <a:avLst>
              <a:gd name="adj" fmla="val 23077"/>
            </a:avLst>
          </a:prstGeom>
          <a:solidFill>
            <a:srgbClr val="5BA66B"/>
          </a:solidFill>
          <a:ln w="12700">
            <a:solidFill>
              <a:srgbClr val="5BA66B"/>
            </a:solidFill>
            <a:prstDash val="solid"/>
          </a:ln>
        </p:spPr>
        <p:txBody>
          <a:bodyPr wrap="square" lIns="508" tIns="508" rIns="508" bIns="508" rtlCol="0" anchor="ctr"/>
          <a:lstStyle/>
          <a:p>
            <a:pPr marL="0" indent="0" algn="ctr">
              <a:buNone/>
            </a:pPr>
            <a:r>
              <a:rPr lang="en-US" sz="1100" b="1" dirty="0">
                <a:solidFill>
                  <a:schemeClr val="bg1"/>
                </a:solidFill>
              </a:rPr>
              <a:t>B</a:t>
            </a:r>
            <a:endParaRPr lang="en-US" sz="1100" dirty="0"/>
          </a:p>
        </p:txBody>
      </p:sp>
      <p:sp>
        <p:nvSpPr>
          <p:cNvPr id="14" name="text-139"/>
          <p:cNvSpPr txBox="1"/>
          <p:nvPr/>
        </p:nvSpPr>
        <p:spPr>
          <a:xfrm>
            <a:off x="896112" y="2926080"/>
            <a:ext cx="3474720" cy="237744"/>
          </a:xfrm>
          <a:prstGeom prst="rect">
            <a:avLst/>
          </a:prstGeom>
          <a:noFill/>
          <a:ln/>
        </p:spPr>
        <p:txBody>
          <a:bodyPr wrap="square" lIns="0" tIns="0" rIns="0" bIns="0" rtlCol="0" anchor="ctr"/>
          <a:lstStyle/>
          <a:p>
            <a:pPr marL="0" indent="0">
              <a:buNone/>
            </a:pPr>
            <a:r>
              <a:rPr lang="en-US" sz="1200" dirty="0">
                <a:solidFill>
                  <a:schemeClr val="tx1"/>
                </a:solidFill>
              </a:rPr>
              <a:t>Mostly supported</a:t>
            </a:r>
            <a:endParaRPr lang="en-US" sz="1200" dirty="0"/>
          </a:p>
        </p:txBody>
      </p:sp>
      <p:sp>
        <p:nvSpPr>
          <p:cNvPr id="15" name="box-140"/>
          <p:cNvSpPr txBox="1"/>
          <p:nvPr/>
        </p:nvSpPr>
        <p:spPr>
          <a:xfrm>
            <a:off x="457200" y="3200400"/>
            <a:ext cx="310896" cy="237744"/>
          </a:xfrm>
          <a:prstGeom prst="roundRect">
            <a:avLst>
              <a:gd name="adj" fmla="val 23077"/>
            </a:avLst>
          </a:prstGeom>
          <a:solidFill>
            <a:srgbClr val="D98E04"/>
          </a:solidFill>
          <a:ln w="12700">
            <a:solidFill>
              <a:srgbClr val="D98E04"/>
            </a:solidFill>
            <a:prstDash val="solid"/>
          </a:ln>
        </p:spPr>
        <p:txBody>
          <a:bodyPr wrap="square" lIns="508" tIns="508" rIns="508" bIns="508" rtlCol="0" anchor="ctr"/>
          <a:lstStyle/>
          <a:p>
            <a:pPr marL="0" indent="0" algn="ctr">
              <a:buNone/>
            </a:pPr>
            <a:r>
              <a:rPr lang="en-US" sz="1100" b="1" dirty="0">
                <a:solidFill>
                  <a:schemeClr val="bg1"/>
                </a:solidFill>
              </a:rPr>
              <a:t>C</a:t>
            </a:r>
            <a:endParaRPr lang="en-US" sz="1100" dirty="0"/>
          </a:p>
        </p:txBody>
      </p:sp>
      <p:sp>
        <p:nvSpPr>
          <p:cNvPr id="16" name="text-141"/>
          <p:cNvSpPr txBox="1"/>
          <p:nvPr/>
        </p:nvSpPr>
        <p:spPr>
          <a:xfrm>
            <a:off x="896112" y="3200400"/>
            <a:ext cx="3474720" cy="237744"/>
          </a:xfrm>
          <a:prstGeom prst="rect">
            <a:avLst/>
          </a:prstGeom>
          <a:noFill/>
          <a:ln/>
        </p:spPr>
        <p:txBody>
          <a:bodyPr wrap="square" lIns="0" tIns="0" rIns="0" bIns="0" rtlCol="0" anchor="ctr"/>
          <a:lstStyle/>
          <a:p>
            <a:pPr marL="0" indent="0">
              <a:buNone/>
            </a:pPr>
            <a:r>
              <a:rPr lang="en-US" sz="1200" dirty="0">
                <a:solidFill>
                  <a:schemeClr val="tx1"/>
                </a:solidFill>
              </a:rPr>
              <a:t>Partially supported</a:t>
            </a:r>
            <a:endParaRPr lang="en-US" sz="1200" dirty="0"/>
          </a:p>
        </p:txBody>
      </p:sp>
      <p:sp>
        <p:nvSpPr>
          <p:cNvPr id="17" name="box-142"/>
          <p:cNvSpPr txBox="1"/>
          <p:nvPr/>
        </p:nvSpPr>
        <p:spPr>
          <a:xfrm>
            <a:off x="457200" y="3474720"/>
            <a:ext cx="310896" cy="237744"/>
          </a:xfrm>
          <a:prstGeom prst="roundRect">
            <a:avLst>
              <a:gd name="adj" fmla="val 23077"/>
            </a:avLst>
          </a:prstGeom>
          <a:solidFill>
            <a:srgbClr val="D2691E"/>
          </a:solidFill>
          <a:ln w="12700">
            <a:solidFill>
              <a:srgbClr val="D2691E"/>
            </a:solidFill>
            <a:prstDash val="solid"/>
          </a:ln>
        </p:spPr>
        <p:txBody>
          <a:bodyPr wrap="square" lIns="508" tIns="508" rIns="508" bIns="508" rtlCol="0" anchor="ctr"/>
          <a:lstStyle/>
          <a:p>
            <a:pPr marL="0" indent="0" algn="ctr">
              <a:buNone/>
            </a:pPr>
            <a:r>
              <a:rPr lang="en-US" sz="1100" b="1" dirty="0">
                <a:solidFill>
                  <a:schemeClr val="bg1"/>
                </a:solidFill>
              </a:rPr>
              <a:t>D</a:t>
            </a:r>
            <a:endParaRPr lang="en-US" sz="1100" dirty="0"/>
          </a:p>
        </p:txBody>
      </p:sp>
      <p:sp>
        <p:nvSpPr>
          <p:cNvPr id="18" name="text-143"/>
          <p:cNvSpPr txBox="1"/>
          <p:nvPr/>
        </p:nvSpPr>
        <p:spPr>
          <a:xfrm>
            <a:off x="896112" y="3474720"/>
            <a:ext cx="3474720" cy="237744"/>
          </a:xfrm>
          <a:prstGeom prst="rect">
            <a:avLst/>
          </a:prstGeom>
          <a:noFill/>
          <a:ln/>
        </p:spPr>
        <p:txBody>
          <a:bodyPr wrap="square" lIns="0" tIns="0" rIns="0" bIns="0" rtlCol="0" anchor="ctr"/>
          <a:lstStyle/>
          <a:p>
            <a:pPr marL="0" indent="0">
              <a:buNone/>
            </a:pPr>
            <a:r>
              <a:rPr lang="en-US" sz="1200" dirty="0">
                <a:solidFill>
                  <a:schemeClr val="tx1"/>
                </a:solidFill>
              </a:rPr>
              <a:t>Unsupported</a:t>
            </a:r>
            <a:endParaRPr lang="en-US" sz="1200" dirty="0"/>
          </a:p>
        </p:txBody>
      </p:sp>
      <p:sp>
        <p:nvSpPr>
          <p:cNvPr id="19" name="box-144"/>
          <p:cNvSpPr txBox="1"/>
          <p:nvPr/>
        </p:nvSpPr>
        <p:spPr>
          <a:xfrm>
            <a:off x="457200" y="3749040"/>
            <a:ext cx="310896" cy="237744"/>
          </a:xfrm>
          <a:prstGeom prst="roundRect">
            <a:avLst>
              <a:gd name="adj" fmla="val 23077"/>
            </a:avLst>
          </a:prstGeom>
          <a:solidFill>
            <a:srgbClr val="C0392B"/>
          </a:solidFill>
          <a:ln w="12700">
            <a:solidFill>
              <a:srgbClr val="C0392B"/>
            </a:solidFill>
            <a:prstDash val="solid"/>
          </a:ln>
        </p:spPr>
        <p:txBody>
          <a:bodyPr wrap="square" lIns="508" tIns="508" rIns="508" bIns="508" rtlCol="0" anchor="ctr"/>
          <a:lstStyle/>
          <a:p>
            <a:pPr marL="0" indent="0" algn="ctr">
              <a:buNone/>
            </a:pPr>
            <a:r>
              <a:rPr lang="en-US" sz="1100" b="1" dirty="0">
                <a:solidFill>
                  <a:schemeClr val="bg1"/>
                </a:solidFill>
              </a:rPr>
              <a:t>E</a:t>
            </a:r>
            <a:endParaRPr lang="en-US" sz="1100" dirty="0"/>
          </a:p>
        </p:txBody>
      </p:sp>
      <p:sp>
        <p:nvSpPr>
          <p:cNvPr id="20" name="text-145"/>
          <p:cNvSpPr txBox="1"/>
          <p:nvPr/>
        </p:nvSpPr>
        <p:spPr>
          <a:xfrm>
            <a:off x="896112" y="3749040"/>
            <a:ext cx="3474720" cy="237744"/>
          </a:xfrm>
          <a:prstGeom prst="rect">
            <a:avLst/>
          </a:prstGeom>
          <a:noFill/>
          <a:ln/>
        </p:spPr>
        <p:txBody>
          <a:bodyPr wrap="square" lIns="0" tIns="0" rIns="0" bIns="0" rtlCol="0" anchor="ctr"/>
          <a:lstStyle/>
          <a:p>
            <a:pPr marL="0" indent="0">
              <a:buNone/>
            </a:pPr>
            <a:r>
              <a:rPr lang="en-US" sz="1200" dirty="0">
                <a:solidFill>
                  <a:schemeClr val="tx1"/>
                </a:solidFill>
              </a:rPr>
              <a:t>Contradicted</a:t>
            </a:r>
            <a:endParaRPr lang="en-US" sz="1200" dirty="0"/>
          </a:p>
        </p:txBody>
      </p:sp>
      <p:sp>
        <p:nvSpPr>
          <p:cNvPr id="21" name="box-146"/>
          <p:cNvSpPr txBox="1"/>
          <p:nvPr/>
        </p:nvSpPr>
        <p:spPr>
          <a:xfrm>
            <a:off x="4754880" y="960120"/>
            <a:ext cx="3931920" cy="502920"/>
          </a:xfrm>
          <a:prstGeom prst="roundRect">
            <a:avLst>
              <a:gd name="adj" fmla="val 10909"/>
            </a:avLst>
          </a:prstGeom>
          <a:solidFill>
            <a:srgbClr val="EEF2F8"/>
          </a:solidFill>
          <a:ln w="15875">
            <a:solidFill>
              <a:schemeClr val="accent4"/>
            </a:solidFill>
            <a:prstDash val="solid"/>
          </a:ln>
        </p:spPr>
        <p:txBody>
          <a:bodyPr wrap="square" lIns="508" tIns="508" rIns="508" bIns="508" rtlCol="0" anchor="ctr"/>
          <a:lstStyle/>
          <a:p>
            <a:pPr marL="0" indent="0" algn="ctr">
              <a:buNone/>
            </a:pPr>
            <a:r>
              <a:rPr lang="en-US" sz="1050" dirty="0">
                <a:solidFill>
                  <a:schemeClr val="tx1"/>
                </a:solidFill>
                <a:latin typeface="Courier New" pitchFamily="34" charset="0"/>
                <a:ea typeface="Courier New" pitchFamily="34" charset="-122"/>
                <a:cs typeface="Courier New" pitchFamily="34" charset="-120"/>
              </a:rPr>
              <a:t>Question → Retriever → Context →</a:t>
            </a:r>
            <a:endParaRPr lang="en-US" sz="1050" dirty="0"/>
          </a:p>
          <a:p>
            <a:pPr marL="0" indent="0" algn="ctr">
              <a:buNone/>
            </a:pPr>
            <a:r>
              <a:rPr lang="en-US" sz="1050" dirty="0">
                <a:solidFill>
                  <a:schemeClr val="tx1"/>
                </a:solidFill>
                <a:latin typeface="Courier New" pitchFamily="34" charset="0"/>
                <a:ea typeface="Courier New" pitchFamily="34" charset="-122"/>
                <a:cs typeface="Courier New" pitchFamily="34" charset="-120"/>
              </a:rPr>
              <a:t>LLM → Answer → Grounding check</a:t>
            </a:r>
            <a:endParaRPr lang="en-US" sz="1050" dirty="0"/>
          </a:p>
        </p:txBody>
      </p:sp>
      <p:sp>
        <p:nvSpPr>
          <p:cNvPr id="22" name="card-147"/>
          <p:cNvSpPr/>
          <p:nvPr/>
        </p:nvSpPr>
        <p:spPr>
          <a:xfrm>
            <a:off x="4754880" y="1600200"/>
            <a:ext cx="3931920" cy="1143000"/>
          </a:xfrm>
          <a:prstGeom prst="roundRect">
            <a:avLst>
              <a:gd name="adj" fmla="val 4800"/>
            </a:avLst>
          </a:prstGeom>
          <a:solidFill>
            <a:schemeClr val="bg1"/>
          </a:solidFill>
          <a:ln w="19050">
            <a:solidFill>
              <a:schemeClr val="accent3"/>
            </a:solidFill>
            <a:prstDash val="solid"/>
          </a:ln>
        </p:spPr>
        <p:txBody>
          <a:bodyPr/>
          <a:lstStyle/>
          <a:p>
            <a:endParaRPr lang="en-US"/>
          </a:p>
        </p:txBody>
      </p:sp>
      <p:sp>
        <p:nvSpPr>
          <p:cNvPr id="23" name="text-148"/>
          <p:cNvSpPr txBox="1"/>
          <p:nvPr/>
        </p:nvSpPr>
        <p:spPr>
          <a:xfrm>
            <a:off x="4892040" y="1691640"/>
            <a:ext cx="1828800" cy="182880"/>
          </a:xfrm>
          <a:prstGeom prst="rect">
            <a:avLst/>
          </a:prstGeom>
          <a:noFill/>
          <a:ln/>
        </p:spPr>
        <p:txBody>
          <a:bodyPr wrap="square" lIns="0" tIns="0" rIns="0" bIns="0" rtlCol="0" anchor="t"/>
          <a:lstStyle/>
          <a:p>
            <a:pPr marL="0" indent="0">
              <a:buNone/>
            </a:pPr>
            <a:r>
              <a:rPr lang="en-US" sz="1000" b="1" dirty="0">
                <a:solidFill>
                  <a:schemeClr val="accent3"/>
                </a:solidFill>
                <a:latin typeface="Courier New" pitchFamily="34" charset="0"/>
                <a:ea typeface="Courier New" pitchFamily="34" charset="-122"/>
                <a:cs typeface="Courier New" pitchFamily="34" charset="-120"/>
              </a:rPr>
              <a:t>SUPPORTED</a:t>
            </a:r>
            <a:endParaRPr lang="en-US" sz="1000" dirty="0"/>
          </a:p>
        </p:txBody>
      </p:sp>
      <p:sp>
        <p:nvSpPr>
          <p:cNvPr id="24" name="text-149"/>
          <p:cNvSpPr txBox="1"/>
          <p:nvPr/>
        </p:nvSpPr>
        <p:spPr>
          <a:xfrm>
            <a:off x="4892040" y="1929384"/>
            <a:ext cx="3657600" cy="731520"/>
          </a:xfrm>
          <a:prstGeom prst="rect">
            <a:avLst/>
          </a:prstGeom>
          <a:noFill/>
          <a:ln/>
        </p:spPr>
        <p:txBody>
          <a:bodyPr wrap="square" lIns="0" tIns="0" rIns="0" bIns="0" rtlCol="0" anchor="t"/>
          <a:lstStyle/>
          <a:p>
            <a:pPr marL="0" indent="0">
              <a:spcAft>
                <a:spcPts val="300"/>
              </a:spcAft>
              <a:buNone/>
            </a:pPr>
            <a:r>
              <a:rPr lang="en-US" sz="1150" b="1" dirty="0">
                <a:solidFill>
                  <a:schemeClr val="accent5"/>
                </a:solidFill>
              </a:rPr>
              <a:t>Context: </a:t>
            </a:r>
            <a:r>
              <a:rPr lang="en-US" sz="1150" dirty="0">
                <a:solidFill>
                  <a:schemeClr val="tx1"/>
                </a:solidFill>
              </a:rPr>
              <a:t>“Paris is the capital of France.”</a:t>
            </a:r>
            <a:endParaRPr lang="en-US" sz="1150" dirty="0"/>
          </a:p>
          <a:p>
            <a:pPr marL="0" indent="0">
              <a:spcAft>
                <a:spcPts val="300"/>
              </a:spcAft>
              <a:buNone/>
            </a:pPr>
            <a:r>
              <a:rPr lang="en-US" sz="1150" b="1" dirty="0">
                <a:solidFill>
                  <a:schemeClr val="accent5"/>
                </a:solidFill>
              </a:rPr>
              <a:t>Answer: </a:t>
            </a:r>
            <a:r>
              <a:rPr lang="en-US" sz="1150" dirty="0">
                <a:solidFill>
                  <a:schemeClr val="tx1"/>
                </a:solidFill>
              </a:rPr>
              <a:t>“Paris is the capital of France.”</a:t>
            </a:r>
            <a:endParaRPr lang="en-US" sz="1150" dirty="0"/>
          </a:p>
          <a:p>
            <a:pPr marL="0" indent="0">
              <a:spcAft>
                <a:spcPts val="300"/>
              </a:spcAft>
              <a:buNone/>
            </a:pPr>
            <a:r>
              <a:rPr lang="en-US" sz="1150" b="1" dirty="0">
                <a:solidFill>
                  <a:schemeClr val="accent3"/>
                </a:solidFill>
              </a:rPr>
              <a:t>✓ Grounded</a:t>
            </a:r>
            <a:endParaRPr lang="en-US" sz="1150" dirty="0"/>
          </a:p>
        </p:txBody>
      </p:sp>
      <p:sp>
        <p:nvSpPr>
          <p:cNvPr id="25" name="card-150"/>
          <p:cNvSpPr/>
          <p:nvPr/>
        </p:nvSpPr>
        <p:spPr>
          <a:xfrm>
            <a:off x="4754880" y="2880360"/>
            <a:ext cx="3931920" cy="1143000"/>
          </a:xfrm>
          <a:prstGeom prst="roundRect">
            <a:avLst>
              <a:gd name="adj" fmla="val 4800"/>
            </a:avLst>
          </a:prstGeom>
          <a:solidFill>
            <a:schemeClr val="bg1"/>
          </a:solidFill>
          <a:ln w="19050">
            <a:solidFill>
              <a:schemeClr val="accent6"/>
            </a:solidFill>
            <a:prstDash val="solid"/>
          </a:ln>
        </p:spPr>
        <p:txBody>
          <a:bodyPr/>
          <a:lstStyle/>
          <a:p>
            <a:endParaRPr lang="en-US"/>
          </a:p>
        </p:txBody>
      </p:sp>
      <p:sp>
        <p:nvSpPr>
          <p:cNvPr id="26" name="text-151"/>
          <p:cNvSpPr txBox="1"/>
          <p:nvPr/>
        </p:nvSpPr>
        <p:spPr>
          <a:xfrm>
            <a:off x="4892040" y="2971800"/>
            <a:ext cx="1828800" cy="182880"/>
          </a:xfrm>
          <a:prstGeom prst="rect">
            <a:avLst/>
          </a:prstGeom>
          <a:noFill/>
          <a:ln/>
        </p:spPr>
        <p:txBody>
          <a:bodyPr wrap="square" lIns="0" tIns="0" rIns="0" bIns="0" rtlCol="0" anchor="t"/>
          <a:lstStyle/>
          <a:p>
            <a:pPr marL="0" indent="0">
              <a:buNone/>
            </a:pPr>
            <a:r>
              <a:rPr lang="en-US" sz="1000" b="1" dirty="0">
                <a:solidFill>
                  <a:schemeClr val="accent6"/>
                </a:solidFill>
                <a:latin typeface="Courier New" pitchFamily="34" charset="0"/>
                <a:ea typeface="Courier New" pitchFamily="34" charset="-122"/>
                <a:cs typeface="Courier New" pitchFamily="34" charset="-120"/>
              </a:rPr>
              <a:t>UNSUPPORTED</a:t>
            </a:r>
            <a:endParaRPr lang="en-US" sz="1000" dirty="0"/>
          </a:p>
        </p:txBody>
      </p:sp>
      <p:sp>
        <p:nvSpPr>
          <p:cNvPr id="27" name="text-152"/>
          <p:cNvSpPr txBox="1"/>
          <p:nvPr/>
        </p:nvSpPr>
        <p:spPr>
          <a:xfrm>
            <a:off x="4892040" y="3209544"/>
            <a:ext cx="3657600" cy="731520"/>
          </a:xfrm>
          <a:prstGeom prst="rect">
            <a:avLst/>
          </a:prstGeom>
          <a:noFill/>
          <a:ln/>
        </p:spPr>
        <p:txBody>
          <a:bodyPr wrap="square" lIns="0" tIns="0" rIns="0" bIns="0" rtlCol="0" anchor="t"/>
          <a:lstStyle/>
          <a:p>
            <a:pPr marL="0" indent="0">
              <a:spcAft>
                <a:spcPts val="300"/>
              </a:spcAft>
              <a:buNone/>
            </a:pPr>
            <a:r>
              <a:rPr lang="en-US" sz="1150" b="1" dirty="0">
                <a:solidFill>
                  <a:schemeClr val="accent5"/>
                </a:solidFill>
              </a:rPr>
              <a:t>Context: </a:t>
            </a:r>
            <a:r>
              <a:rPr lang="en-US" sz="1150" dirty="0">
                <a:solidFill>
                  <a:schemeClr val="tx1"/>
                </a:solidFill>
              </a:rPr>
              <a:t>“Paris is the capital of France.”</a:t>
            </a:r>
            <a:endParaRPr lang="en-US" sz="1150" dirty="0"/>
          </a:p>
          <a:p>
            <a:pPr marL="0" indent="0">
              <a:spcAft>
                <a:spcPts val="300"/>
              </a:spcAft>
              <a:buNone/>
            </a:pPr>
            <a:r>
              <a:rPr lang="en-US" sz="1150" b="1" dirty="0">
                <a:solidFill>
                  <a:schemeClr val="accent5"/>
                </a:solidFill>
              </a:rPr>
              <a:t>Answer: </a:t>
            </a:r>
            <a:r>
              <a:rPr lang="en-US" sz="1150" dirty="0">
                <a:solidFill>
                  <a:schemeClr val="tx1"/>
                </a:solidFill>
              </a:rPr>
              <a:t>“Paris has a population of 20 million.”</a:t>
            </a:r>
            <a:endParaRPr lang="en-US" sz="1150" dirty="0"/>
          </a:p>
          <a:p>
            <a:pPr marL="0" indent="0">
              <a:spcAft>
                <a:spcPts val="300"/>
              </a:spcAft>
              <a:buNone/>
            </a:pPr>
            <a:r>
              <a:rPr lang="en-US" sz="1150" b="1" dirty="0">
                <a:solidFill>
                  <a:schemeClr val="accent6"/>
                </a:solidFill>
              </a:rPr>
              <a:t>⚠ Not supported by supplied context</a:t>
            </a:r>
            <a:endParaRPr lang="en-US" sz="1150" dirty="0"/>
          </a:p>
        </p:txBody>
      </p:sp>
      <p:sp>
        <p:nvSpPr>
          <p:cNvPr id="28" name="card-153"/>
          <p:cNvSpPr/>
          <p:nvPr/>
        </p:nvSpPr>
        <p:spPr>
          <a:xfrm>
            <a:off x="457200" y="4114800"/>
            <a:ext cx="8229600" cy="548640"/>
          </a:xfrm>
          <a:prstGeom prst="roundRect">
            <a:avLst>
              <a:gd name="adj" fmla="val 10000"/>
            </a:avLst>
          </a:prstGeom>
          <a:solidFill>
            <a:schemeClr val="bg1"/>
          </a:solidFill>
          <a:ln w="12700">
            <a:solidFill>
              <a:schemeClr val="accent5"/>
            </a:solidFill>
            <a:prstDash val="dash"/>
          </a:ln>
        </p:spPr>
        <p:txBody>
          <a:bodyPr/>
          <a:lstStyle/>
          <a:p>
            <a:endParaRPr lang="en-US"/>
          </a:p>
        </p:txBody>
      </p:sp>
      <p:sp>
        <p:nvSpPr>
          <p:cNvPr id="29" name="text-154"/>
          <p:cNvSpPr txBox="1"/>
          <p:nvPr/>
        </p:nvSpPr>
        <p:spPr>
          <a:xfrm>
            <a:off x="594360" y="4160520"/>
            <a:ext cx="7955280" cy="457200"/>
          </a:xfrm>
          <a:prstGeom prst="rect">
            <a:avLst/>
          </a:prstGeom>
          <a:noFill/>
          <a:ln/>
        </p:spPr>
        <p:txBody>
          <a:bodyPr wrap="square" lIns="0" tIns="0" rIns="0" bIns="0" rtlCol="0" anchor="ctr"/>
          <a:lstStyle/>
          <a:p>
            <a:pPr marL="0" indent="0">
              <a:buNone/>
            </a:pPr>
            <a:r>
              <a:rPr lang="en-US" sz="1150" b="1" dirty="0">
                <a:solidFill>
                  <a:schemeClr val="tx1"/>
                </a:solidFill>
              </a:rPr>
              <a:t>Judge scores are evaluation signals, not absolute ground truth.</a:t>
            </a:r>
            <a:endParaRPr lang="en-US" sz="1150" dirty="0"/>
          </a:p>
          <a:p>
            <a:pPr marL="0" indent="0">
              <a:buNone/>
            </a:pPr>
            <a:r>
              <a:rPr lang="en-US" sz="1150" dirty="0">
                <a:solidFill>
                  <a:schemeClr val="tx1"/>
                </a:solidFill>
              </a:rPr>
              <a:t>Potential bias: using an evaluated model as the judge can introduce evaluator bias.</a:t>
            </a:r>
            <a:endParaRPr lang="en-US" sz="1150" dirty="0"/>
          </a:p>
        </p:txBody>
      </p:sp>
      <p:sp>
        <p:nvSpPr>
          <p:cNvPr id="30"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94A3B8"/>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548640"/>
          </a:xfrm>
          <a:prstGeom prst="rect">
            <a:avLst/>
          </a:prstGeom>
          <a:noFill/>
          <a:ln/>
        </p:spPr>
        <p:txBody>
          <a:bodyPr wrap="square" lIns="0" tIns="0" rIns="0" bIns="0" rtlCol="0" anchor="ctr"/>
          <a:lstStyle/>
          <a:p>
            <a:pPr marL="0" indent="0" algn="l">
              <a:buNone/>
            </a:pPr>
            <a:r>
              <a:rPr lang="en-US" sz="2600" b="1" dirty="0">
                <a:solidFill>
                  <a:schemeClr val="tx1"/>
                </a:solidFill>
              </a:rPr>
              <a:t>From Results to Decisions</a:t>
            </a:r>
            <a:endParaRPr lang="en-US" sz="2600" dirty="0"/>
          </a:p>
        </p:txBody>
      </p:sp>
      <p:sp>
        <p:nvSpPr>
          <p:cNvPr id="3" name="text-155"/>
          <p:cNvSpPr txBox="1"/>
          <p:nvPr/>
        </p:nvSpPr>
        <p:spPr>
          <a:xfrm>
            <a:off x="457200" y="914400"/>
            <a:ext cx="4023360" cy="201168"/>
          </a:xfrm>
          <a:prstGeom prst="rect">
            <a:avLst/>
          </a:prstGeom>
          <a:noFill/>
          <a:ln/>
        </p:spPr>
        <p:txBody>
          <a:bodyPr wrap="square" lIns="0" tIns="0" rIns="0" bIns="0" rtlCol="0" anchor="t"/>
          <a:lstStyle/>
          <a:p>
            <a:pPr marL="0" indent="0">
              <a:buNone/>
            </a:pPr>
            <a:r>
              <a:rPr lang="en-US" sz="1050" b="1" dirty="0">
                <a:solidFill>
                  <a:schemeClr val="tx2"/>
                </a:solidFill>
                <a:latin typeface="Courier New" pitchFamily="34" charset="0"/>
                <a:ea typeface="Courier New" pitchFamily="34" charset="-122"/>
                <a:cs typeface="Courier New" pitchFamily="34" charset="-120"/>
              </a:rPr>
              <a:t>DECISION SUPPORT</a:t>
            </a:r>
            <a:endParaRPr lang="en-US" sz="1050" dirty="0"/>
          </a:p>
        </p:txBody>
      </p:sp>
      <p:sp>
        <p:nvSpPr>
          <p:cNvPr id="4" name="box-156"/>
          <p:cNvSpPr txBox="1"/>
          <p:nvPr/>
        </p:nvSpPr>
        <p:spPr>
          <a:xfrm>
            <a:off x="457200" y="1207008"/>
            <a:ext cx="4023360" cy="310896"/>
          </a:xfrm>
          <a:prstGeom prst="roundRect">
            <a:avLst>
              <a:gd name="adj" fmla="val 17647"/>
            </a:avLst>
          </a:prstGeom>
          <a:solidFill>
            <a:schemeClr val="bg1"/>
          </a:solidFill>
          <a:ln w="12700">
            <a:solidFill>
              <a:srgbClr val="D5DBE6"/>
            </a:solidFill>
            <a:prstDash val="solid"/>
          </a:ln>
        </p:spPr>
        <p:txBody>
          <a:bodyPr wrap="square" lIns="508" tIns="508" rIns="508" bIns="508" rtlCol="0" anchor="ctr"/>
          <a:lstStyle/>
          <a:p>
            <a:pPr marL="0" indent="0" algn="ctr">
              <a:buNone/>
            </a:pPr>
            <a:r>
              <a:rPr lang="en-US" sz="1200" dirty="0">
                <a:solidFill>
                  <a:schemeClr val="tx1"/>
                </a:solidFill>
              </a:rPr>
              <a:t>Evaluation history</a:t>
            </a:r>
            <a:endParaRPr lang="en-US" sz="1200" dirty="0"/>
          </a:p>
        </p:txBody>
      </p:sp>
      <p:sp>
        <p:nvSpPr>
          <p:cNvPr id="5" name="arrow-157"/>
          <p:cNvSpPr/>
          <p:nvPr/>
        </p:nvSpPr>
        <p:spPr>
          <a:xfrm>
            <a:off x="2468880" y="1517904"/>
            <a:ext cx="0" cy="128016"/>
          </a:xfrm>
          <a:prstGeom prst="line">
            <a:avLst/>
          </a:prstGeom>
          <a:noFill/>
          <a:ln w="15875">
            <a:solidFill>
              <a:srgbClr val="94A3B8"/>
            </a:solidFill>
            <a:prstDash val="solid"/>
            <a:tailEnd type="triangle"/>
          </a:ln>
        </p:spPr>
        <p:txBody>
          <a:bodyPr/>
          <a:lstStyle/>
          <a:p>
            <a:endParaRPr lang="en-US"/>
          </a:p>
        </p:txBody>
      </p:sp>
      <p:sp>
        <p:nvSpPr>
          <p:cNvPr id="6" name="box-158"/>
          <p:cNvSpPr txBox="1"/>
          <p:nvPr/>
        </p:nvSpPr>
        <p:spPr>
          <a:xfrm>
            <a:off x="457200" y="1645920"/>
            <a:ext cx="4023360" cy="310896"/>
          </a:xfrm>
          <a:prstGeom prst="roundRect">
            <a:avLst>
              <a:gd name="adj" fmla="val 17647"/>
            </a:avLst>
          </a:prstGeom>
          <a:solidFill>
            <a:schemeClr val="bg1"/>
          </a:solidFill>
          <a:ln w="12700">
            <a:solidFill>
              <a:srgbClr val="D5DBE6"/>
            </a:solidFill>
            <a:prstDash val="solid"/>
          </a:ln>
        </p:spPr>
        <p:txBody>
          <a:bodyPr wrap="square" lIns="508" tIns="508" rIns="508" bIns="508" rtlCol="0" anchor="ctr"/>
          <a:lstStyle/>
          <a:p>
            <a:pPr marL="0" indent="0" algn="ctr">
              <a:buNone/>
            </a:pPr>
            <a:r>
              <a:rPr lang="en-US" sz="1200" dirty="0">
                <a:solidFill>
                  <a:schemeClr val="tx1"/>
                </a:solidFill>
              </a:rPr>
              <a:t>Quality + latency + cost</a:t>
            </a:r>
            <a:endParaRPr lang="en-US" sz="1200" dirty="0"/>
          </a:p>
        </p:txBody>
      </p:sp>
      <p:sp>
        <p:nvSpPr>
          <p:cNvPr id="7" name="arrow-159"/>
          <p:cNvSpPr/>
          <p:nvPr/>
        </p:nvSpPr>
        <p:spPr>
          <a:xfrm>
            <a:off x="2468880" y="1956816"/>
            <a:ext cx="0" cy="128016"/>
          </a:xfrm>
          <a:prstGeom prst="line">
            <a:avLst/>
          </a:prstGeom>
          <a:noFill/>
          <a:ln w="15875">
            <a:solidFill>
              <a:srgbClr val="94A3B8"/>
            </a:solidFill>
            <a:prstDash val="solid"/>
            <a:tailEnd type="triangle"/>
          </a:ln>
        </p:spPr>
        <p:txBody>
          <a:bodyPr/>
          <a:lstStyle/>
          <a:p>
            <a:endParaRPr lang="en-US"/>
          </a:p>
        </p:txBody>
      </p:sp>
      <p:sp>
        <p:nvSpPr>
          <p:cNvPr id="8" name="box-160"/>
          <p:cNvSpPr txBox="1"/>
          <p:nvPr/>
        </p:nvSpPr>
        <p:spPr>
          <a:xfrm>
            <a:off x="457200" y="2084832"/>
            <a:ext cx="4023360" cy="310896"/>
          </a:xfrm>
          <a:prstGeom prst="roundRect">
            <a:avLst>
              <a:gd name="adj" fmla="val 17647"/>
            </a:avLst>
          </a:prstGeom>
          <a:solidFill>
            <a:schemeClr val="bg1"/>
          </a:solidFill>
          <a:ln w="12700">
            <a:solidFill>
              <a:srgbClr val="D5DBE6"/>
            </a:solidFill>
            <a:prstDash val="solid"/>
          </a:ln>
        </p:spPr>
        <p:txBody>
          <a:bodyPr wrap="square" lIns="508" tIns="508" rIns="508" bIns="508" rtlCol="0" anchor="ctr"/>
          <a:lstStyle/>
          <a:p>
            <a:pPr marL="0" indent="0" algn="ctr">
              <a:buNone/>
            </a:pPr>
            <a:r>
              <a:rPr lang="en-US" sz="1200" dirty="0">
                <a:solidFill>
                  <a:schemeClr val="tx1"/>
                </a:solidFill>
              </a:rPr>
              <a:t>Model ranking</a:t>
            </a:r>
            <a:endParaRPr lang="en-US" sz="1200" dirty="0"/>
          </a:p>
        </p:txBody>
      </p:sp>
      <p:sp>
        <p:nvSpPr>
          <p:cNvPr id="9" name="arrow-161"/>
          <p:cNvSpPr/>
          <p:nvPr/>
        </p:nvSpPr>
        <p:spPr>
          <a:xfrm>
            <a:off x="2468880" y="2395728"/>
            <a:ext cx="0" cy="128016"/>
          </a:xfrm>
          <a:prstGeom prst="line">
            <a:avLst/>
          </a:prstGeom>
          <a:noFill/>
          <a:ln w="15875">
            <a:solidFill>
              <a:srgbClr val="94A3B8"/>
            </a:solidFill>
            <a:prstDash val="solid"/>
            <a:tailEnd type="triangle"/>
          </a:ln>
        </p:spPr>
        <p:txBody>
          <a:bodyPr/>
          <a:lstStyle/>
          <a:p>
            <a:endParaRPr lang="en-US"/>
          </a:p>
        </p:txBody>
      </p:sp>
      <p:sp>
        <p:nvSpPr>
          <p:cNvPr id="10" name="box-162"/>
          <p:cNvSpPr txBox="1"/>
          <p:nvPr/>
        </p:nvSpPr>
        <p:spPr>
          <a:xfrm>
            <a:off x="457200" y="2523744"/>
            <a:ext cx="4023360" cy="310896"/>
          </a:xfrm>
          <a:prstGeom prst="roundRect">
            <a:avLst>
              <a:gd name="adj" fmla="val 17647"/>
            </a:avLst>
          </a:prstGeom>
          <a:solidFill>
            <a:schemeClr val="tx1"/>
          </a:solidFill>
          <a:ln w="12700">
            <a:solidFill>
              <a:schemeClr val="tx1"/>
            </a:solidFill>
            <a:prstDash val="solid"/>
          </a:ln>
        </p:spPr>
        <p:txBody>
          <a:bodyPr wrap="square" lIns="508" tIns="508" rIns="508" bIns="508" rtlCol="0" anchor="ctr"/>
          <a:lstStyle/>
          <a:p>
            <a:pPr marL="0" indent="0" algn="ctr">
              <a:buNone/>
            </a:pPr>
            <a:r>
              <a:rPr lang="en-US" sz="1200" b="1" dirty="0">
                <a:solidFill>
                  <a:schemeClr val="bg1"/>
                </a:solidFill>
              </a:rPr>
              <a:t>Recommendation</a:t>
            </a:r>
            <a:endParaRPr lang="en-US" sz="1200" dirty="0"/>
          </a:p>
        </p:txBody>
      </p:sp>
      <p:sp>
        <p:nvSpPr>
          <p:cNvPr id="11" name="card-163"/>
          <p:cNvSpPr/>
          <p:nvPr/>
        </p:nvSpPr>
        <p:spPr>
          <a:xfrm>
            <a:off x="457200" y="3063240"/>
            <a:ext cx="1252728" cy="566928"/>
          </a:xfrm>
          <a:prstGeom prst="roundRect">
            <a:avLst>
              <a:gd name="adj" fmla="val 9677"/>
            </a:avLst>
          </a:prstGeom>
          <a:solidFill>
            <a:schemeClr val="bg1"/>
          </a:solidFill>
          <a:ln w="19050">
            <a:solidFill>
              <a:schemeClr val="accent1"/>
            </a:solidFill>
            <a:prstDash val="solid"/>
          </a:ln>
        </p:spPr>
        <p:txBody>
          <a:bodyPr/>
          <a:lstStyle/>
          <a:p>
            <a:endParaRPr lang="en-US"/>
          </a:p>
        </p:txBody>
      </p:sp>
      <p:sp>
        <p:nvSpPr>
          <p:cNvPr id="12" name="text-164"/>
          <p:cNvSpPr txBox="1"/>
          <p:nvPr/>
        </p:nvSpPr>
        <p:spPr>
          <a:xfrm>
            <a:off x="457200" y="3108960"/>
            <a:ext cx="1252728" cy="182880"/>
          </a:xfrm>
          <a:prstGeom prst="rect">
            <a:avLst/>
          </a:prstGeom>
          <a:noFill/>
          <a:ln/>
        </p:spPr>
        <p:txBody>
          <a:bodyPr wrap="square" lIns="0" tIns="0" rIns="0" bIns="0" rtlCol="0" anchor="t"/>
          <a:lstStyle/>
          <a:p>
            <a:pPr marL="0" indent="0" algn="ctr">
              <a:buNone/>
            </a:pPr>
            <a:r>
              <a:rPr lang="en-US" sz="900" b="1" dirty="0">
                <a:solidFill>
                  <a:schemeClr val="accent1"/>
                </a:solidFill>
                <a:latin typeface="Courier New" pitchFamily="34" charset="0"/>
                <a:ea typeface="Courier New" pitchFamily="34" charset="-122"/>
                <a:cs typeface="Courier New" pitchFamily="34" charset="-120"/>
              </a:rPr>
              <a:t>BEST QUALITY</a:t>
            </a:r>
            <a:endParaRPr lang="en-US" sz="900" dirty="0"/>
          </a:p>
        </p:txBody>
      </p:sp>
      <p:sp>
        <p:nvSpPr>
          <p:cNvPr id="13" name="text-165"/>
          <p:cNvSpPr txBox="1"/>
          <p:nvPr/>
        </p:nvSpPr>
        <p:spPr>
          <a:xfrm>
            <a:off x="457200" y="3310128"/>
            <a:ext cx="1252728" cy="274320"/>
          </a:xfrm>
          <a:prstGeom prst="rect">
            <a:avLst/>
          </a:prstGeom>
          <a:noFill/>
          <a:ln/>
        </p:spPr>
        <p:txBody>
          <a:bodyPr wrap="square" lIns="0" tIns="0" rIns="0" bIns="0" rtlCol="0" anchor="t"/>
          <a:lstStyle/>
          <a:p>
            <a:pPr marL="0" indent="0" algn="ctr">
              <a:buNone/>
            </a:pPr>
            <a:r>
              <a:rPr lang="en-US" sz="1400" b="1" dirty="0">
                <a:solidFill>
                  <a:schemeClr val="tx1"/>
                </a:solidFill>
              </a:rPr>
              <a:t>Model A</a:t>
            </a:r>
            <a:endParaRPr lang="en-US" sz="1400" dirty="0"/>
          </a:p>
        </p:txBody>
      </p:sp>
      <p:sp>
        <p:nvSpPr>
          <p:cNvPr id="14" name="card-166"/>
          <p:cNvSpPr/>
          <p:nvPr/>
        </p:nvSpPr>
        <p:spPr>
          <a:xfrm>
            <a:off x="1842516" y="3063240"/>
            <a:ext cx="1252728" cy="566928"/>
          </a:xfrm>
          <a:prstGeom prst="roundRect">
            <a:avLst>
              <a:gd name="adj" fmla="val 9677"/>
            </a:avLst>
          </a:prstGeom>
          <a:solidFill>
            <a:schemeClr val="bg1"/>
          </a:solidFill>
          <a:ln w="19050">
            <a:solidFill>
              <a:schemeClr val="accent2"/>
            </a:solidFill>
            <a:prstDash val="solid"/>
          </a:ln>
        </p:spPr>
        <p:txBody>
          <a:bodyPr/>
          <a:lstStyle/>
          <a:p>
            <a:endParaRPr lang="en-US"/>
          </a:p>
        </p:txBody>
      </p:sp>
      <p:sp>
        <p:nvSpPr>
          <p:cNvPr id="15" name="text-167"/>
          <p:cNvSpPr txBox="1"/>
          <p:nvPr/>
        </p:nvSpPr>
        <p:spPr>
          <a:xfrm>
            <a:off x="1842516" y="3108960"/>
            <a:ext cx="1252728" cy="182880"/>
          </a:xfrm>
          <a:prstGeom prst="rect">
            <a:avLst/>
          </a:prstGeom>
          <a:noFill/>
          <a:ln/>
        </p:spPr>
        <p:txBody>
          <a:bodyPr wrap="square" lIns="0" tIns="0" rIns="0" bIns="0" rtlCol="0" anchor="t"/>
          <a:lstStyle/>
          <a:p>
            <a:pPr marL="0" indent="0" algn="ctr">
              <a:buNone/>
            </a:pPr>
            <a:r>
              <a:rPr lang="en-US" sz="900" b="1" dirty="0">
                <a:solidFill>
                  <a:schemeClr val="accent2"/>
                </a:solidFill>
                <a:latin typeface="Courier New" pitchFamily="34" charset="0"/>
                <a:ea typeface="Courier New" pitchFamily="34" charset="-122"/>
                <a:cs typeface="Courier New" pitchFamily="34" charset="-120"/>
              </a:rPr>
              <a:t>FASTEST</a:t>
            </a:r>
            <a:endParaRPr lang="en-US" sz="900" dirty="0"/>
          </a:p>
        </p:txBody>
      </p:sp>
      <p:sp>
        <p:nvSpPr>
          <p:cNvPr id="16" name="text-168"/>
          <p:cNvSpPr txBox="1"/>
          <p:nvPr/>
        </p:nvSpPr>
        <p:spPr>
          <a:xfrm>
            <a:off x="1842516" y="3310128"/>
            <a:ext cx="1252728" cy="274320"/>
          </a:xfrm>
          <a:prstGeom prst="rect">
            <a:avLst/>
          </a:prstGeom>
          <a:noFill/>
          <a:ln/>
        </p:spPr>
        <p:txBody>
          <a:bodyPr wrap="square" lIns="0" tIns="0" rIns="0" bIns="0" rtlCol="0" anchor="t"/>
          <a:lstStyle/>
          <a:p>
            <a:pPr marL="0" indent="0" algn="ctr">
              <a:buNone/>
            </a:pPr>
            <a:r>
              <a:rPr lang="en-US" sz="1400" b="1" dirty="0">
                <a:solidFill>
                  <a:schemeClr val="tx1"/>
                </a:solidFill>
              </a:rPr>
              <a:t>Model B</a:t>
            </a:r>
            <a:endParaRPr lang="en-US" sz="1400" dirty="0"/>
          </a:p>
        </p:txBody>
      </p:sp>
      <p:sp>
        <p:nvSpPr>
          <p:cNvPr id="17" name="card-169"/>
          <p:cNvSpPr/>
          <p:nvPr/>
        </p:nvSpPr>
        <p:spPr>
          <a:xfrm>
            <a:off x="3227832" y="3063240"/>
            <a:ext cx="1252728" cy="566928"/>
          </a:xfrm>
          <a:prstGeom prst="roundRect">
            <a:avLst>
              <a:gd name="adj" fmla="val 9677"/>
            </a:avLst>
          </a:prstGeom>
          <a:solidFill>
            <a:schemeClr val="bg1"/>
          </a:solidFill>
          <a:ln w="19050">
            <a:solidFill>
              <a:schemeClr val="accent5"/>
            </a:solidFill>
            <a:prstDash val="solid"/>
          </a:ln>
        </p:spPr>
        <p:txBody>
          <a:bodyPr/>
          <a:lstStyle/>
          <a:p>
            <a:endParaRPr lang="en-US"/>
          </a:p>
        </p:txBody>
      </p:sp>
      <p:sp>
        <p:nvSpPr>
          <p:cNvPr id="18" name="text-170"/>
          <p:cNvSpPr txBox="1"/>
          <p:nvPr/>
        </p:nvSpPr>
        <p:spPr>
          <a:xfrm>
            <a:off x="3227832" y="3108960"/>
            <a:ext cx="1252728" cy="182880"/>
          </a:xfrm>
          <a:prstGeom prst="rect">
            <a:avLst/>
          </a:prstGeom>
          <a:noFill/>
          <a:ln/>
        </p:spPr>
        <p:txBody>
          <a:bodyPr wrap="square" lIns="0" tIns="0" rIns="0" bIns="0" rtlCol="0" anchor="t"/>
          <a:lstStyle/>
          <a:p>
            <a:pPr marL="0" indent="0" algn="ctr">
              <a:buNone/>
            </a:pPr>
            <a:r>
              <a:rPr lang="en-US" sz="900" b="1" dirty="0">
                <a:solidFill>
                  <a:schemeClr val="accent5"/>
                </a:solidFill>
                <a:latin typeface="Courier New" pitchFamily="34" charset="0"/>
                <a:ea typeface="Courier New" pitchFamily="34" charset="-122"/>
                <a:cs typeface="Courier New" pitchFamily="34" charset="-120"/>
              </a:rPr>
              <a:t>BEST VALUE</a:t>
            </a:r>
            <a:endParaRPr lang="en-US" sz="900" dirty="0"/>
          </a:p>
        </p:txBody>
      </p:sp>
      <p:sp>
        <p:nvSpPr>
          <p:cNvPr id="19" name="text-171"/>
          <p:cNvSpPr txBox="1"/>
          <p:nvPr/>
        </p:nvSpPr>
        <p:spPr>
          <a:xfrm>
            <a:off x="3227832" y="3310128"/>
            <a:ext cx="1252728" cy="274320"/>
          </a:xfrm>
          <a:prstGeom prst="rect">
            <a:avLst/>
          </a:prstGeom>
          <a:noFill/>
          <a:ln/>
        </p:spPr>
        <p:txBody>
          <a:bodyPr wrap="square" lIns="0" tIns="0" rIns="0" bIns="0" rtlCol="0" anchor="t"/>
          <a:lstStyle/>
          <a:p>
            <a:pPr marL="0" indent="0" algn="ctr">
              <a:buNone/>
            </a:pPr>
            <a:r>
              <a:rPr lang="en-US" sz="1400" b="1" dirty="0">
                <a:solidFill>
                  <a:schemeClr val="tx1"/>
                </a:solidFill>
              </a:rPr>
              <a:t>Model C</a:t>
            </a:r>
            <a:endParaRPr lang="en-US" sz="1400" dirty="0"/>
          </a:p>
        </p:txBody>
      </p:sp>
      <p:sp>
        <p:nvSpPr>
          <p:cNvPr id="20" name="text-172"/>
          <p:cNvSpPr txBox="1"/>
          <p:nvPr/>
        </p:nvSpPr>
        <p:spPr>
          <a:xfrm>
            <a:off x="457200" y="3703320"/>
            <a:ext cx="4023360" cy="201168"/>
          </a:xfrm>
          <a:prstGeom prst="rect">
            <a:avLst/>
          </a:prstGeom>
          <a:noFill/>
          <a:ln/>
        </p:spPr>
        <p:txBody>
          <a:bodyPr wrap="square" lIns="0" tIns="0" rIns="0" bIns="0" rtlCol="0" anchor="t"/>
          <a:lstStyle/>
          <a:p>
            <a:pPr marL="0" indent="0">
              <a:buNone/>
            </a:pPr>
            <a:r>
              <a:rPr lang="en-US" sz="950" b="1" dirty="0">
                <a:solidFill>
                  <a:schemeClr val="accent4"/>
                </a:solidFill>
                <a:latin typeface="Courier New" pitchFamily="34" charset="0"/>
                <a:ea typeface="Courier New" pitchFamily="34" charset="-122"/>
                <a:cs typeface="Courier New" pitchFamily="34" charset="-120"/>
              </a:rPr>
              <a:t>EXAMPLE CATEGORIES, NOT MEASURED RESULTS</a:t>
            </a:r>
            <a:endParaRPr lang="en-US" sz="950" dirty="0"/>
          </a:p>
        </p:txBody>
      </p:sp>
      <p:sp>
        <p:nvSpPr>
          <p:cNvPr id="21" name="text-173"/>
          <p:cNvSpPr txBox="1"/>
          <p:nvPr/>
        </p:nvSpPr>
        <p:spPr>
          <a:xfrm>
            <a:off x="4754880" y="914400"/>
            <a:ext cx="2103120" cy="201168"/>
          </a:xfrm>
          <a:prstGeom prst="rect">
            <a:avLst/>
          </a:prstGeom>
          <a:noFill/>
          <a:ln/>
        </p:spPr>
        <p:txBody>
          <a:bodyPr wrap="square" lIns="0" tIns="0" rIns="0" bIns="0" rtlCol="0" anchor="t"/>
          <a:lstStyle/>
          <a:p>
            <a:pPr marL="0" indent="0">
              <a:buNone/>
            </a:pPr>
            <a:r>
              <a:rPr lang="en-US" sz="1050" b="1" dirty="0">
                <a:solidFill>
                  <a:schemeClr val="tx2"/>
                </a:solidFill>
                <a:latin typeface="Courier New" pitchFamily="34" charset="0"/>
                <a:ea typeface="Courier New" pitchFamily="34" charset="-122"/>
                <a:cs typeface="Courier New" pitchFamily="34" charset="-120"/>
              </a:rPr>
              <a:t>PROPOSED VALIDATION</a:t>
            </a:r>
            <a:endParaRPr lang="en-US" sz="1050" dirty="0"/>
          </a:p>
        </p:txBody>
      </p:sp>
      <p:sp>
        <p:nvSpPr>
          <p:cNvPr id="22" name="text-174"/>
          <p:cNvSpPr txBox="1"/>
          <p:nvPr/>
        </p:nvSpPr>
        <p:spPr>
          <a:xfrm>
            <a:off x="6400800" y="914400"/>
            <a:ext cx="2286000" cy="201168"/>
          </a:xfrm>
          <a:prstGeom prst="rect">
            <a:avLst/>
          </a:prstGeom>
          <a:noFill/>
          <a:ln/>
        </p:spPr>
        <p:txBody>
          <a:bodyPr wrap="square" lIns="0" tIns="0" rIns="0" bIns="0" rtlCol="0" anchor="t"/>
          <a:lstStyle/>
          <a:p>
            <a:pPr marL="0" indent="0" algn="r">
              <a:buNone/>
            </a:pPr>
            <a:r>
              <a:rPr lang="en-US" sz="950" b="1" dirty="0">
                <a:solidFill>
                  <a:schemeClr val="accent4"/>
                </a:solidFill>
                <a:latin typeface="Courier New" pitchFamily="34" charset="0"/>
                <a:ea typeface="Courier New" pitchFamily="34" charset="-122"/>
                <a:cs typeface="Courier New" pitchFamily="34" charset="-120"/>
              </a:rPr>
              <a:t>NOT YET REPORTED RESULTS</a:t>
            </a:r>
            <a:endParaRPr lang="en-US" sz="950" dirty="0"/>
          </a:p>
        </p:txBody>
      </p:sp>
      <p:sp>
        <p:nvSpPr>
          <p:cNvPr id="23" name="card-175"/>
          <p:cNvSpPr/>
          <p:nvPr/>
        </p:nvSpPr>
        <p:spPr>
          <a:xfrm>
            <a:off x="4754880" y="1207008"/>
            <a:ext cx="3931920" cy="393192"/>
          </a:xfrm>
          <a:prstGeom prst="roundRect">
            <a:avLst>
              <a:gd name="adj" fmla="val 13953"/>
            </a:avLst>
          </a:prstGeom>
          <a:solidFill>
            <a:schemeClr val="bg1"/>
          </a:solidFill>
          <a:ln w="12700">
            <a:solidFill>
              <a:srgbClr val="D5DBE6"/>
            </a:solidFill>
            <a:prstDash val="solid"/>
          </a:ln>
        </p:spPr>
        <p:txBody>
          <a:bodyPr/>
          <a:lstStyle/>
          <a:p>
            <a:endParaRPr lang="en-US"/>
          </a:p>
        </p:txBody>
      </p:sp>
      <p:sp>
        <p:nvSpPr>
          <p:cNvPr id="24" name="box-176"/>
          <p:cNvSpPr txBox="1"/>
          <p:nvPr/>
        </p:nvSpPr>
        <p:spPr>
          <a:xfrm>
            <a:off x="4846320" y="1271016"/>
            <a:ext cx="274320" cy="265176"/>
          </a:xfrm>
          <a:prstGeom prst="roundRect">
            <a:avLst>
              <a:gd name="adj" fmla="val 20690"/>
            </a:avLst>
          </a:prstGeom>
          <a:solidFill>
            <a:schemeClr val="tx1"/>
          </a:solidFill>
          <a:ln w="12700">
            <a:solidFill>
              <a:schemeClr val="tx1"/>
            </a:solidFill>
            <a:prstDash val="solid"/>
          </a:ln>
        </p:spPr>
        <p:txBody>
          <a:bodyPr wrap="square" lIns="508" tIns="508" rIns="508" bIns="508" rtlCol="0" anchor="ctr"/>
          <a:lstStyle/>
          <a:p>
            <a:pPr marL="0" indent="0" algn="ctr">
              <a:buNone/>
            </a:pPr>
            <a:r>
              <a:rPr lang="en-US" sz="1100" b="1" dirty="0">
                <a:solidFill>
                  <a:schemeClr val="bg1"/>
                </a:solidFill>
                <a:latin typeface="Courier New" pitchFamily="34" charset="0"/>
                <a:ea typeface="Courier New" pitchFamily="34" charset="-122"/>
                <a:cs typeface="Courier New" pitchFamily="34" charset="-120"/>
              </a:rPr>
              <a:t>1</a:t>
            </a:r>
            <a:endParaRPr lang="en-US" sz="1100" dirty="0"/>
          </a:p>
        </p:txBody>
      </p:sp>
      <p:sp>
        <p:nvSpPr>
          <p:cNvPr id="25" name="text-177"/>
          <p:cNvSpPr txBox="1"/>
          <p:nvPr/>
        </p:nvSpPr>
        <p:spPr>
          <a:xfrm>
            <a:off x="5230368" y="1207008"/>
            <a:ext cx="3383280" cy="393192"/>
          </a:xfrm>
          <a:prstGeom prst="rect">
            <a:avLst/>
          </a:prstGeom>
          <a:noFill/>
          <a:ln/>
        </p:spPr>
        <p:txBody>
          <a:bodyPr wrap="square" lIns="0" tIns="0" rIns="0" bIns="0" rtlCol="0" anchor="ctr"/>
          <a:lstStyle/>
          <a:p>
            <a:pPr marL="0" indent="0">
              <a:buNone/>
            </a:pPr>
            <a:r>
              <a:rPr lang="en-US" sz="1150" dirty="0">
                <a:solidFill>
                  <a:schemeClr val="tx1"/>
                </a:solidFill>
              </a:rPr>
              <a:t>Fixed representative dataset</a:t>
            </a:r>
            <a:endParaRPr lang="en-US" sz="1150" dirty="0"/>
          </a:p>
        </p:txBody>
      </p:sp>
      <p:sp>
        <p:nvSpPr>
          <p:cNvPr id="26" name="card-178"/>
          <p:cNvSpPr/>
          <p:nvPr/>
        </p:nvSpPr>
        <p:spPr>
          <a:xfrm>
            <a:off x="4754880" y="1664208"/>
            <a:ext cx="3931920" cy="393192"/>
          </a:xfrm>
          <a:prstGeom prst="roundRect">
            <a:avLst>
              <a:gd name="adj" fmla="val 13953"/>
            </a:avLst>
          </a:prstGeom>
          <a:solidFill>
            <a:schemeClr val="bg1"/>
          </a:solidFill>
          <a:ln w="12700">
            <a:solidFill>
              <a:srgbClr val="D5DBE6"/>
            </a:solidFill>
            <a:prstDash val="solid"/>
          </a:ln>
        </p:spPr>
        <p:txBody>
          <a:bodyPr/>
          <a:lstStyle/>
          <a:p>
            <a:endParaRPr lang="en-US"/>
          </a:p>
        </p:txBody>
      </p:sp>
      <p:sp>
        <p:nvSpPr>
          <p:cNvPr id="27" name="box-179"/>
          <p:cNvSpPr txBox="1"/>
          <p:nvPr/>
        </p:nvSpPr>
        <p:spPr>
          <a:xfrm>
            <a:off x="4846320" y="1728216"/>
            <a:ext cx="274320" cy="265176"/>
          </a:xfrm>
          <a:prstGeom prst="roundRect">
            <a:avLst>
              <a:gd name="adj" fmla="val 20690"/>
            </a:avLst>
          </a:prstGeom>
          <a:solidFill>
            <a:schemeClr val="tx1"/>
          </a:solidFill>
          <a:ln w="12700">
            <a:solidFill>
              <a:schemeClr val="tx1"/>
            </a:solidFill>
            <a:prstDash val="solid"/>
          </a:ln>
        </p:spPr>
        <p:txBody>
          <a:bodyPr wrap="square" lIns="508" tIns="508" rIns="508" bIns="508" rtlCol="0" anchor="ctr"/>
          <a:lstStyle/>
          <a:p>
            <a:pPr marL="0" indent="0" algn="ctr">
              <a:buNone/>
            </a:pPr>
            <a:r>
              <a:rPr lang="en-US" sz="1100" b="1" dirty="0">
                <a:solidFill>
                  <a:schemeClr val="bg1"/>
                </a:solidFill>
                <a:latin typeface="Courier New" pitchFamily="34" charset="0"/>
                <a:ea typeface="Courier New" pitchFamily="34" charset="-122"/>
                <a:cs typeface="Courier New" pitchFamily="34" charset="-120"/>
              </a:rPr>
              <a:t>2</a:t>
            </a:r>
            <a:endParaRPr lang="en-US" sz="1100" dirty="0"/>
          </a:p>
        </p:txBody>
      </p:sp>
      <p:sp>
        <p:nvSpPr>
          <p:cNvPr id="28" name="text-180"/>
          <p:cNvSpPr txBox="1"/>
          <p:nvPr/>
        </p:nvSpPr>
        <p:spPr>
          <a:xfrm>
            <a:off x="5230368" y="1664208"/>
            <a:ext cx="3383280" cy="393192"/>
          </a:xfrm>
          <a:prstGeom prst="rect">
            <a:avLst/>
          </a:prstGeom>
          <a:noFill/>
          <a:ln/>
        </p:spPr>
        <p:txBody>
          <a:bodyPr wrap="square" lIns="0" tIns="0" rIns="0" bIns="0" rtlCol="0" anchor="ctr"/>
          <a:lstStyle/>
          <a:p>
            <a:pPr marL="0" indent="0">
              <a:buNone/>
            </a:pPr>
            <a:r>
              <a:rPr lang="en-US" sz="1150" dirty="0">
                <a:solidFill>
                  <a:schemeClr val="tx1"/>
                </a:solidFill>
              </a:rPr>
              <a:t>Same dataset across multiple models</a:t>
            </a:r>
            <a:endParaRPr lang="en-US" sz="1150" dirty="0"/>
          </a:p>
        </p:txBody>
      </p:sp>
      <p:sp>
        <p:nvSpPr>
          <p:cNvPr id="29" name="card-181"/>
          <p:cNvSpPr/>
          <p:nvPr/>
        </p:nvSpPr>
        <p:spPr>
          <a:xfrm>
            <a:off x="4754880" y="2121408"/>
            <a:ext cx="3931920" cy="393192"/>
          </a:xfrm>
          <a:prstGeom prst="roundRect">
            <a:avLst>
              <a:gd name="adj" fmla="val 13953"/>
            </a:avLst>
          </a:prstGeom>
          <a:solidFill>
            <a:schemeClr val="bg1"/>
          </a:solidFill>
          <a:ln w="12700">
            <a:solidFill>
              <a:srgbClr val="D5DBE6"/>
            </a:solidFill>
            <a:prstDash val="solid"/>
          </a:ln>
        </p:spPr>
        <p:txBody>
          <a:bodyPr/>
          <a:lstStyle/>
          <a:p>
            <a:endParaRPr lang="en-US"/>
          </a:p>
        </p:txBody>
      </p:sp>
      <p:sp>
        <p:nvSpPr>
          <p:cNvPr id="30" name="box-182"/>
          <p:cNvSpPr txBox="1"/>
          <p:nvPr/>
        </p:nvSpPr>
        <p:spPr>
          <a:xfrm>
            <a:off x="4846320" y="2185416"/>
            <a:ext cx="274320" cy="265176"/>
          </a:xfrm>
          <a:prstGeom prst="roundRect">
            <a:avLst>
              <a:gd name="adj" fmla="val 20690"/>
            </a:avLst>
          </a:prstGeom>
          <a:solidFill>
            <a:schemeClr val="tx1"/>
          </a:solidFill>
          <a:ln w="12700">
            <a:solidFill>
              <a:schemeClr val="tx1"/>
            </a:solidFill>
            <a:prstDash val="solid"/>
          </a:ln>
        </p:spPr>
        <p:txBody>
          <a:bodyPr wrap="square" lIns="508" tIns="508" rIns="508" bIns="508" rtlCol="0" anchor="ctr"/>
          <a:lstStyle/>
          <a:p>
            <a:pPr marL="0" indent="0" algn="ctr">
              <a:buNone/>
            </a:pPr>
            <a:r>
              <a:rPr lang="en-US" sz="1100" b="1" dirty="0">
                <a:solidFill>
                  <a:schemeClr val="bg1"/>
                </a:solidFill>
                <a:latin typeface="Courier New" pitchFamily="34" charset="0"/>
                <a:ea typeface="Courier New" pitchFamily="34" charset="-122"/>
                <a:cs typeface="Courier New" pitchFamily="34" charset="-120"/>
              </a:rPr>
              <a:t>3</a:t>
            </a:r>
            <a:endParaRPr lang="en-US" sz="1100" dirty="0"/>
          </a:p>
        </p:txBody>
      </p:sp>
      <p:sp>
        <p:nvSpPr>
          <p:cNvPr id="31" name="text-183"/>
          <p:cNvSpPr txBox="1"/>
          <p:nvPr/>
        </p:nvSpPr>
        <p:spPr>
          <a:xfrm>
            <a:off x="5230368" y="2121408"/>
            <a:ext cx="3383280" cy="393192"/>
          </a:xfrm>
          <a:prstGeom prst="rect">
            <a:avLst/>
          </a:prstGeom>
          <a:noFill/>
          <a:ln/>
        </p:spPr>
        <p:txBody>
          <a:bodyPr wrap="square" lIns="0" tIns="0" rIns="0" bIns="0" rtlCol="0" anchor="ctr"/>
          <a:lstStyle/>
          <a:p>
            <a:pPr marL="0" indent="0">
              <a:buNone/>
            </a:pPr>
            <a:r>
              <a:rPr lang="en-US" sz="1150" dirty="0">
                <a:solidFill>
                  <a:schemeClr val="tx1"/>
                </a:solidFill>
              </a:rPr>
              <a:t>Measure quality, latency, tokens, cost</a:t>
            </a:r>
            <a:endParaRPr lang="en-US" sz="1150" dirty="0"/>
          </a:p>
        </p:txBody>
      </p:sp>
      <p:sp>
        <p:nvSpPr>
          <p:cNvPr id="32" name="card-184"/>
          <p:cNvSpPr/>
          <p:nvPr/>
        </p:nvSpPr>
        <p:spPr>
          <a:xfrm>
            <a:off x="4754880" y="2578608"/>
            <a:ext cx="3931920" cy="393192"/>
          </a:xfrm>
          <a:prstGeom prst="roundRect">
            <a:avLst>
              <a:gd name="adj" fmla="val 13953"/>
            </a:avLst>
          </a:prstGeom>
          <a:solidFill>
            <a:schemeClr val="bg1"/>
          </a:solidFill>
          <a:ln w="12700">
            <a:solidFill>
              <a:srgbClr val="D5DBE6"/>
            </a:solidFill>
            <a:prstDash val="solid"/>
          </a:ln>
        </p:spPr>
        <p:txBody>
          <a:bodyPr/>
          <a:lstStyle/>
          <a:p>
            <a:endParaRPr lang="en-US"/>
          </a:p>
        </p:txBody>
      </p:sp>
      <p:sp>
        <p:nvSpPr>
          <p:cNvPr id="33" name="box-185"/>
          <p:cNvSpPr txBox="1"/>
          <p:nvPr/>
        </p:nvSpPr>
        <p:spPr>
          <a:xfrm>
            <a:off x="4846320" y="2642616"/>
            <a:ext cx="274320" cy="265176"/>
          </a:xfrm>
          <a:prstGeom prst="roundRect">
            <a:avLst>
              <a:gd name="adj" fmla="val 20690"/>
            </a:avLst>
          </a:prstGeom>
          <a:solidFill>
            <a:schemeClr val="tx1"/>
          </a:solidFill>
          <a:ln w="12700">
            <a:solidFill>
              <a:schemeClr val="tx1"/>
            </a:solidFill>
            <a:prstDash val="solid"/>
          </a:ln>
        </p:spPr>
        <p:txBody>
          <a:bodyPr wrap="square" lIns="508" tIns="508" rIns="508" bIns="508" rtlCol="0" anchor="ctr"/>
          <a:lstStyle/>
          <a:p>
            <a:pPr marL="0" indent="0" algn="ctr">
              <a:buNone/>
            </a:pPr>
            <a:r>
              <a:rPr lang="en-US" sz="1100" b="1" dirty="0">
                <a:solidFill>
                  <a:schemeClr val="bg1"/>
                </a:solidFill>
                <a:latin typeface="Courier New" pitchFamily="34" charset="0"/>
                <a:ea typeface="Courier New" pitchFamily="34" charset="-122"/>
                <a:cs typeface="Courier New" pitchFamily="34" charset="-120"/>
              </a:rPr>
              <a:t>4</a:t>
            </a:r>
            <a:endParaRPr lang="en-US" sz="1100" dirty="0"/>
          </a:p>
        </p:txBody>
      </p:sp>
      <p:sp>
        <p:nvSpPr>
          <p:cNvPr id="34" name="text-186"/>
          <p:cNvSpPr txBox="1"/>
          <p:nvPr/>
        </p:nvSpPr>
        <p:spPr>
          <a:xfrm>
            <a:off x="5230368" y="2578608"/>
            <a:ext cx="3383280" cy="393192"/>
          </a:xfrm>
          <a:prstGeom prst="rect">
            <a:avLst/>
          </a:prstGeom>
          <a:noFill/>
          <a:ln/>
        </p:spPr>
        <p:txBody>
          <a:bodyPr wrap="square" lIns="0" tIns="0" rIns="0" bIns="0" rtlCol="0" anchor="ctr"/>
          <a:lstStyle/>
          <a:p>
            <a:pPr marL="0" indent="0">
              <a:buNone/>
            </a:pPr>
            <a:r>
              <a:rPr lang="en-US" sz="1150" dirty="0">
                <a:solidFill>
                  <a:schemeClr val="tx1"/>
                </a:solidFill>
              </a:rPr>
              <a:t>Evaluate RAG grounding</a:t>
            </a:r>
            <a:endParaRPr lang="en-US" sz="1150" dirty="0"/>
          </a:p>
        </p:txBody>
      </p:sp>
      <p:sp>
        <p:nvSpPr>
          <p:cNvPr id="35" name="card-187"/>
          <p:cNvSpPr/>
          <p:nvPr/>
        </p:nvSpPr>
        <p:spPr>
          <a:xfrm>
            <a:off x="4754880" y="3035808"/>
            <a:ext cx="3931920" cy="393192"/>
          </a:xfrm>
          <a:prstGeom prst="roundRect">
            <a:avLst>
              <a:gd name="adj" fmla="val 13953"/>
            </a:avLst>
          </a:prstGeom>
          <a:solidFill>
            <a:schemeClr val="bg1"/>
          </a:solidFill>
          <a:ln w="12700">
            <a:solidFill>
              <a:srgbClr val="D5DBE6"/>
            </a:solidFill>
            <a:prstDash val="solid"/>
          </a:ln>
        </p:spPr>
        <p:txBody>
          <a:bodyPr/>
          <a:lstStyle/>
          <a:p>
            <a:endParaRPr lang="en-US"/>
          </a:p>
        </p:txBody>
      </p:sp>
      <p:sp>
        <p:nvSpPr>
          <p:cNvPr id="36" name="box-188"/>
          <p:cNvSpPr txBox="1"/>
          <p:nvPr/>
        </p:nvSpPr>
        <p:spPr>
          <a:xfrm>
            <a:off x="4846320" y="3099816"/>
            <a:ext cx="274320" cy="265176"/>
          </a:xfrm>
          <a:prstGeom prst="roundRect">
            <a:avLst>
              <a:gd name="adj" fmla="val 20690"/>
            </a:avLst>
          </a:prstGeom>
          <a:solidFill>
            <a:schemeClr val="tx1"/>
          </a:solidFill>
          <a:ln w="12700">
            <a:solidFill>
              <a:schemeClr val="tx1"/>
            </a:solidFill>
            <a:prstDash val="solid"/>
          </a:ln>
        </p:spPr>
        <p:txBody>
          <a:bodyPr wrap="square" lIns="508" tIns="508" rIns="508" bIns="508" rtlCol="0" anchor="ctr"/>
          <a:lstStyle/>
          <a:p>
            <a:pPr marL="0" indent="0" algn="ctr">
              <a:buNone/>
            </a:pPr>
            <a:r>
              <a:rPr lang="en-US" sz="1100" b="1" dirty="0">
                <a:solidFill>
                  <a:schemeClr val="bg1"/>
                </a:solidFill>
                <a:latin typeface="Courier New" pitchFamily="34" charset="0"/>
                <a:ea typeface="Courier New" pitchFamily="34" charset="-122"/>
                <a:cs typeface="Courier New" pitchFamily="34" charset="-120"/>
              </a:rPr>
              <a:t>5</a:t>
            </a:r>
            <a:endParaRPr lang="en-US" sz="1100" dirty="0"/>
          </a:p>
        </p:txBody>
      </p:sp>
      <p:sp>
        <p:nvSpPr>
          <p:cNvPr id="37" name="text-189"/>
          <p:cNvSpPr txBox="1"/>
          <p:nvPr/>
        </p:nvSpPr>
        <p:spPr>
          <a:xfrm>
            <a:off x="5230368" y="3035808"/>
            <a:ext cx="3383280" cy="393192"/>
          </a:xfrm>
          <a:prstGeom prst="rect">
            <a:avLst/>
          </a:prstGeom>
          <a:noFill/>
          <a:ln/>
        </p:spPr>
        <p:txBody>
          <a:bodyPr wrap="square" lIns="0" tIns="0" rIns="0" bIns="0" rtlCol="0" anchor="ctr"/>
          <a:lstStyle/>
          <a:p>
            <a:pPr marL="0" indent="0">
              <a:buNone/>
            </a:pPr>
            <a:r>
              <a:rPr lang="en-US" sz="1150" dirty="0">
                <a:solidFill>
                  <a:schemeClr val="tx1"/>
                </a:solidFill>
              </a:rPr>
              <a:t>Compare judge scores with human assessments</a:t>
            </a:r>
            <a:endParaRPr lang="en-US" sz="1150" dirty="0"/>
          </a:p>
        </p:txBody>
      </p:sp>
      <p:sp>
        <p:nvSpPr>
          <p:cNvPr id="38" name="card-190"/>
          <p:cNvSpPr/>
          <p:nvPr/>
        </p:nvSpPr>
        <p:spPr>
          <a:xfrm>
            <a:off x="4754880" y="3493008"/>
            <a:ext cx="3931920" cy="393192"/>
          </a:xfrm>
          <a:prstGeom prst="roundRect">
            <a:avLst>
              <a:gd name="adj" fmla="val 13953"/>
            </a:avLst>
          </a:prstGeom>
          <a:solidFill>
            <a:schemeClr val="bg1"/>
          </a:solidFill>
          <a:ln w="12700">
            <a:solidFill>
              <a:srgbClr val="D5DBE6"/>
            </a:solidFill>
            <a:prstDash val="solid"/>
          </a:ln>
        </p:spPr>
        <p:txBody>
          <a:bodyPr/>
          <a:lstStyle/>
          <a:p>
            <a:endParaRPr lang="en-US"/>
          </a:p>
        </p:txBody>
      </p:sp>
      <p:sp>
        <p:nvSpPr>
          <p:cNvPr id="39" name="box-191"/>
          <p:cNvSpPr txBox="1"/>
          <p:nvPr/>
        </p:nvSpPr>
        <p:spPr>
          <a:xfrm>
            <a:off x="4846320" y="3557016"/>
            <a:ext cx="274320" cy="265176"/>
          </a:xfrm>
          <a:prstGeom prst="roundRect">
            <a:avLst>
              <a:gd name="adj" fmla="val 20690"/>
            </a:avLst>
          </a:prstGeom>
          <a:solidFill>
            <a:schemeClr val="tx1"/>
          </a:solidFill>
          <a:ln w="12700">
            <a:solidFill>
              <a:schemeClr val="tx1"/>
            </a:solidFill>
            <a:prstDash val="solid"/>
          </a:ln>
        </p:spPr>
        <p:txBody>
          <a:bodyPr wrap="square" lIns="508" tIns="508" rIns="508" bIns="508" rtlCol="0" anchor="ctr"/>
          <a:lstStyle/>
          <a:p>
            <a:pPr marL="0" indent="0" algn="ctr">
              <a:buNone/>
            </a:pPr>
            <a:r>
              <a:rPr lang="en-US" sz="1100" b="1" dirty="0">
                <a:solidFill>
                  <a:schemeClr val="bg1"/>
                </a:solidFill>
                <a:latin typeface="Courier New" pitchFamily="34" charset="0"/>
                <a:ea typeface="Courier New" pitchFamily="34" charset="-122"/>
                <a:cs typeface="Courier New" pitchFamily="34" charset="-120"/>
              </a:rPr>
              <a:t>6</a:t>
            </a:r>
            <a:endParaRPr lang="en-US" sz="1100" dirty="0"/>
          </a:p>
        </p:txBody>
      </p:sp>
      <p:sp>
        <p:nvSpPr>
          <p:cNvPr id="40" name="text-192"/>
          <p:cNvSpPr txBox="1"/>
          <p:nvPr/>
        </p:nvSpPr>
        <p:spPr>
          <a:xfrm>
            <a:off x="5230368" y="3493008"/>
            <a:ext cx="3383280" cy="393192"/>
          </a:xfrm>
          <a:prstGeom prst="rect">
            <a:avLst/>
          </a:prstGeom>
          <a:noFill/>
          <a:ln/>
        </p:spPr>
        <p:txBody>
          <a:bodyPr wrap="square" lIns="0" tIns="0" rIns="0" bIns="0" rtlCol="0" anchor="ctr"/>
          <a:lstStyle/>
          <a:p>
            <a:pPr marL="0" indent="0">
              <a:buNone/>
            </a:pPr>
            <a:r>
              <a:rPr lang="en-US" sz="1150" dirty="0">
                <a:solidFill>
                  <a:schemeClr val="tx1"/>
                </a:solidFill>
              </a:rPr>
              <a:t>Analyze variability and limitations</a:t>
            </a:r>
            <a:endParaRPr lang="en-US" sz="1150" dirty="0"/>
          </a:p>
        </p:txBody>
      </p:sp>
      <p:sp>
        <p:nvSpPr>
          <p:cNvPr id="41" name="box-193"/>
          <p:cNvSpPr txBox="1"/>
          <p:nvPr/>
        </p:nvSpPr>
        <p:spPr>
          <a:xfrm>
            <a:off x="457200" y="4114800"/>
            <a:ext cx="8229600" cy="457200"/>
          </a:xfrm>
          <a:prstGeom prst="roundRect">
            <a:avLst>
              <a:gd name="adj" fmla="val 12000"/>
            </a:avLst>
          </a:prstGeom>
          <a:solidFill>
            <a:schemeClr val="tx1"/>
          </a:solidFill>
          <a:ln w="12700">
            <a:solidFill>
              <a:schemeClr val="tx1"/>
            </a:solidFill>
            <a:prstDash val="solid"/>
          </a:ln>
        </p:spPr>
        <p:txBody>
          <a:bodyPr wrap="square" lIns="508" tIns="508" rIns="508" bIns="508" rtlCol="0" anchor="ctr"/>
          <a:lstStyle/>
          <a:p>
            <a:pPr marL="0" indent="0" algn="ctr">
              <a:buNone/>
            </a:pPr>
            <a:r>
              <a:rPr lang="en-US" sz="1300" b="1" dirty="0">
                <a:solidFill>
                  <a:schemeClr val="bg1"/>
                </a:solidFill>
              </a:rPr>
              <a:t>Goal: determine whether PromptBench produces useful and reproducible evaluation insights.</a:t>
            </a:r>
            <a:endParaRPr lang="en-US" sz="1300" dirty="0"/>
          </a:p>
        </p:txBody>
      </p:sp>
      <p:sp>
        <p:nvSpPr>
          <p:cNvPr id="42"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94A3B8"/>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548640"/>
          </a:xfrm>
          <a:prstGeom prst="rect">
            <a:avLst/>
          </a:prstGeom>
          <a:noFill/>
          <a:ln/>
        </p:spPr>
        <p:txBody>
          <a:bodyPr wrap="square" lIns="0" tIns="0" rIns="0" bIns="0" rtlCol="0" anchor="ctr"/>
          <a:lstStyle/>
          <a:p>
            <a:pPr marL="0" indent="0" algn="l">
              <a:buNone/>
            </a:pPr>
            <a:r>
              <a:rPr lang="en-US" sz="2600" b="1" dirty="0">
                <a:solidFill>
                  <a:schemeClr val="tx1"/>
                </a:solidFill>
              </a:rPr>
              <a:t>Limitations, Future Work &amp; Contribution</a:t>
            </a:r>
            <a:endParaRPr lang="en-US" sz="2600" dirty="0"/>
          </a:p>
        </p:txBody>
      </p:sp>
      <p:sp>
        <p:nvSpPr>
          <p:cNvPr id="3" name="card-194"/>
          <p:cNvSpPr/>
          <p:nvPr/>
        </p:nvSpPr>
        <p:spPr>
          <a:xfrm>
            <a:off x="457200" y="960120"/>
            <a:ext cx="4023360" cy="2103120"/>
          </a:xfrm>
          <a:prstGeom prst="roundRect">
            <a:avLst>
              <a:gd name="adj" fmla="val 2609"/>
            </a:avLst>
          </a:prstGeom>
          <a:solidFill>
            <a:schemeClr val="bg1"/>
          </a:solidFill>
          <a:ln w="12700">
            <a:solidFill>
              <a:srgbClr val="D5DBE6"/>
            </a:solidFill>
            <a:prstDash val="solid"/>
          </a:ln>
        </p:spPr>
        <p:txBody>
          <a:bodyPr/>
          <a:lstStyle/>
          <a:p>
            <a:endParaRPr lang="en-US"/>
          </a:p>
        </p:txBody>
      </p:sp>
      <p:sp>
        <p:nvSpPr>
          <p:cNvPr id="4" name="text-195"/>
          <p:cNvSpPr txBox="1"/>
          <p:nvPr/>
        </p:nvSpPr>
        <p:spPr>
          <a:xfrm>
            <a:off x="640080" y="1069848"/>
            <a:ext cx="3657600" cy="228600"/>
          </a:xfrm>
          <a:prstGeom prst="rect">
            <a:avLst/>
          </a:prstGeom>
          <a:noFill/>
          <a:ln/>
        </p:spPr>
        <p:txBody>
          <a:bodyPr wrap="square" lIns="0" tIns="0" rIns="0" bIns="0" rtlCol="0" anchor="t"/>
          <a:lstStyle/>
          <a:p>
            <a:pPr marL="0" indent="0">
              <a:buNone/>
            </a:pPr>
            <a:r>
              <a:rPr lang="en-US" sz="1050" b="1" dirty="0">
                <a:solidFill>
                  <a:schemeClr val="tx2"/>
                </a:solidFill>
                <a:latin typeface="Courier New" pitchFamily="34" charset="0"/>
                <a:ea typeface="Courier New" pitchFamily="34" charset="-122"/>
                <a:cs typeface="Courier New" pitchFamily="34" charset="-120"/>
              </a:rPr>
              <a:t>CURRENT LIMITATIONS</a:t>
            </a:r>
            <a:endParaRPr lang="en-US" sz="1050" dirty="0"/>
          </a:p>
        </p:txBody>
      </p:sp>
      <p:sp>
        <p:nvSpPr>
          <p:cNvPr id="5" name="text-196"/>
          <p:cNvSpPr txBox="1"/>
          <p:nvPr/>
        </p:nvSpPr>
        <p:spPr>
          <a:xfrm>
            <a:off x="640080" y="1371600"/>
            <a:ext cx="3703320" cy="1737360"/>
          </a:xfrm>
          <a:prstGeom prst="rect">
            <a:avLst/>
          </a:prstGeom>
          <a:noFill/>
          <a:ln/>
        </p:spPr>
        <p:txBody>
          <a:bodyPr wrap="square" lIns="0" tIns="0" rIns="0" bIns="0" rtlCol="0" anchor="t"/>
          <a:lstStyle/>
          <a:p>
            <a:pPr marL="177800" indent="-177800">
              <a:spcAft>
                <a:spcPts val="300"/>
              </a:spcAft>
              <a:buSzPct val="100000"/>
              <a:buChar char="•"/>
            </a:pPr>
            <a:r>
              <a:rPr lang="en-US" sz="1200" dirty="0">
                <a:solidFill>
                  <a:schemeClr val="tx1"/>
                </a:solidFill>
              </a:rPr>
              <a:t>Synchronous batch processing</a:t>
            </a:r>
            <a:endParaRPr lang="en-US" sz="1200" dirty="0"/>
          </a:p>
          <a:p>
            <a:pPr marL="177800" indent="-177800">
              <a:spcAft>
                <a:spcPts val="300"/>
              </a:spcAft>
              <a:buSzPct val="100000"/>
              <a:buChar char="•"/>
            </a:pPr>
            <a:r>
              <a:rPr lang="en-US" sz="1200" dirty="0">
                <a:solidFill>
                  <a:schemeClr val="tx1"/>
                </a:solidFill>
              </a:rPr>
              <a:t>Provider / API dependencies</a:t>
            </a:r>
            <a:endParaRPr lang="en-US" sz="1200" dirty="0"/>
          </a:p>
          <a:p>
            <a:pPr marL="177800" indent="-177800">
              <a:spcAft>
                <a:spcPts val="300"/>
              </a:spcAft>
              <a:buSzPct val="100000"/>
              <a:buChar char="•"/>
            </a:pPr>
            <a:r>
              <a:rPr lang="en-US" sz="1200" dirty="0">
                <a:solidFill>
                  <a:schemeClr val="tx1"/>
                </a:solidFill>
              </a:rPr>
              <a:t>Storage limitations</a:t>
            </a:r>
            <a:endParaRPr lang="en-US" sz="1200" dirty="0"/>
          </a:p>
          <a:p>
            <a:pPr marL="177800" indent="-177800">
              <a:spcAft>
                <a:spcPts val="300"/>
              </a:spcAft>
              <a:buSzPct val="100000"/>
              <a:buChar char="•"/>
            </a:pPr>
            <a:r>
              <a:rPr lang="en-US" sz="1200" dirty="0">
                <a:solidFill>
                  <a:schemeClr val="tx1"/>
                </a:solidFill>
              </a:rPr>
              <a:t>Automated judge bias</a:t>
            </a:r>
            <a:endParaRPr lang="en-US" sz="1200" dirty="0"/>
          </a:p>
          <a:p>
            <a:pPr marL="177800" indent="-177800">
              <a:spcAft>
                <a:spcPts val="300"/>
              </a:spcAft>
              <a:buSzPct val="100000"/>
              <a:buChar char="•"/>
            </a:pPr>
            <a:r>
              <a:rPr lang="en-US" sz="1200" dirty="0">
                <a:solidFill>
                  <a:schemeClr val="tx1"/>
                </a:solidFill>
              </a:rPr>
              <a:t>Reference metrics miss semantic correctness</a:t>
            </a:r>
            <a:endParaRPr lang="en-US" sz="1200" dirty="0"/>
          </a:p>
          <a:p>
            <a:pPr marL="177800" indent="-177800">
              <a:spcAft>
                <a:spcPts val="300"/>
              </a:spcAft>
              <a:buSzPct val="100000"/>
              <a:buChar char="•"/>
            </a:pPr>
            <a:r>
              <a:rPr lang="en-US" sz="1200" dirty="0">
                <a:solidFill>
                  <a:schemeClr val="tx1"/>
                </a:solidFill>
              </a:rPr>
              <a:t>No completed head-to-head benchmark yet</a:t>
            </a:r>
            <a:endParaRPr lang="en-US" sz="1200" dirty="0"/>
          </a:p>
        </p:txBody>
      </p:sp>
      <p:sp>
        <p:nvSpPr>
          <p:cNvPr id="6" name="card-197"/>
          <p:cNvSpPr/>
          <p:nvPr/>
        </p:nvSpPr>
        <p:spPr>
          <a:xfrm>
            <a:off x="4663440" y="960120"/>
            <a:ext cx="4023360" cy="2103120"/>
          </a:xfrm>
          <a:prstGeom prst="roundRect">
            <a:avLst>
              <a:gd name="adj" fmla="val 2609"/>
            </a:avLst>
          </a:prstGeom>
          <a:solidFill>
            <a:schemeClr val="bg1"/>
          </a:solidFill>
          <a:ln w="12700">
            <a:solidFill>
              <a:srgbClr val="D5DBE6"/>
            </a:solidFill>
            <a:prstDash val="solid"/>
          </a:ln>
        </p:spPr>
        <p:txBody>
          <a:bodyPr/>
          <a:lstStyle/>
          <a:p>
            <a:endParaRPr lang="en-US"/>
          </a:p>
        </p:txBody>
      </p:sp>
      <p:sp>
        <p:nvSpPr>
          <p:cNvPr id="7" name="text-198"/>
          <p:cNvSpPr txBox="1"/>
          <p:nvPr/>
        </p:nvSpPr>
        <p:spPr>
          <a:xfrm>
            <a:off x="4846320" y="1069848"/>
            <a:ext cx="3657600" cy="228600"/>
          </a:xfrm>
          <a:prstGeom prst="rect">
            <a:avLst/>
          </a:prstGeom>
          <a:noFill/>
          <a:ln/>
        </p:spPr>
        <p:txBody>
          <a:bodyPr wrap="square" lIns="0" tIns="0" rIns="0" bIns="0" rtlCol="0" anchor="t"/>
          <a:lstStyle/>
          <a:p>
            <a:pPr marL="0" indent="0">
              <a:buNone/>
            </a:pPr>
            <a:r>
              <a:rPr lang="en-US" sz="1050" b="1" dirty="0">
                <a:solidFill>
                  <a:schemeClr val="tx2"/>
                </a:solidFill>
                <a:latin typeface="Courier New" pitchFamily="34" charset="0"/>
                <a:ea typeface="Courier New" pitchFamily="34" charset="-122"/>
                <a:cs typeface="Courier New" pitchFamily="34" charset="-120"/>
              </a:rPr>
              <a:t>FUTURE WORK</a:t>
            </a:r>
            <a:endParaRPr lang="en-US" sz="1050" dirty="0"/>
          </a:p>
        </p:txBody>
      </p:sp>
      <p:sp>
        <p:nvSpPr>
          <p:cNvPr id="8" name="text-199"/>
          <p:cNvSpPr txBox="1"/>
          <p:nvPr/>
        </p:nvSpPr>
        <p:spPr>
          <a:xfrm>
            <a:off x="4846320" y="1371600"/>
            <a:ext cx="3703320" cy="1737360"/>
          </a:xfrm>
          <a:prstGeom prst="rect">
            <a:avLst/>
          </a:prstGeom>
          <a:noFill/>
          <a:ln/>
        </p:spPr>
        <p:txBody>
          <a:bodyPr wrap="square" lIns="0" tIns="0" rIns="0" bIns="0" rtlCol="0" anchor="t"/>
          <a:lstStyle/>
          <a:p>
            <a:pPr marL="177800" indent="-177800">
              <a:spcAft>
                <a:spcPts val="300"/>
              </a:spcAft>
              <a:buSzPct val="100000"/>
              <a:buChar char="•"/>
            </a:pPr>
            <a:r>
              <a:rPr lang="en-US" sz="1200" dirty="0">
                <a:solidFill>
                  <a:schemeClr val="tx1"/>
                </a:solidFill>
              </a:rPr>
              <a:t>Asynchronous large-scale evaluation</a:t>
            </a:r>
            <a:endParaRPr lang="en-US" sz="1200" dirty="0"/>
          </a:p>
          <a:p>
            <a:pPr marL="177800" indent="-177800">
              <a:spcAft>
                <a:spcPts val="300"/>
              </a:spcAft>
              <a:buSzPct val="100000"/>
              <a:buChar char="•"/>
            </a:pPr>
            <a:r>
              <a:rPr lang="en-US" sz="1200" dirty="0">
                <a:solidFill>
                  <a:schemeClr val="tx1"/>
                </a:solidFill>
              </a:rPr>
              <a:t>More model providers</a:t>
            </a:r>
            <a:endParaRPr lang="en-US" sz="1200" dirty="0"/>
          </a:p>
          <a:p>
            <a:pPr marL="177800" indent="-177800">
              <a:spcAft>
                <a:spcPts val="300"/>
              </a:spcAft>
              <a:buSzPct val="100000"/>
              <a:buChar char="•"/>
            </a:pPr>
            <a:r>
              <a:rPr lang="en-US" sz="1200" dirty="0">
                <a:solidFill>
                  <a:schemeClr val="tx1"/>
                </a:solidFill>
              </a:rPr>
              <a:t>Human evaluation interface</a:t>
            </a:r>
            <a:endParaRPr lang="en-US" sz="1200" dirty="0"/>
          </a:p>
          <a:p>
            <a:pPr marL="177800" indent="-177800">
              <a:spcAft>
                <a:spcPts val="300"/>
              </a:spcAft>
              <a:buSzPct val="100000"/>
              <a:buChar char="•"/>
            </a:pPr>
            <a:r>
              <a:rPr lang="en-US" sz="1200" dirty="0">
                <a:solidFill>
                  <a:schemeClr val="tx1"/>
                </a:solidFill>
              </a:rPr>
              <a:t>Judge calibration</a:t>
            </a:r>
            <a:endParaRPr lang="en-US" sz="1200" dirty="0"/>
          </a:p>
          <a:p>
            <a:pPr marL="177800" indent="-177800">
              <a:spcAft>
                <a:spcPts val="300"/>
              </a:spcAft>
              <a:buSzPct val="100000"/>
              <a:buChar char="•"/>
            </a:pPr>
            <a:r>
              <a:rPr lang="en-US" sz="1200" dirty="0">
                <a:solidFill>
                  <a:schemeClr val="tx1"/>
                </a:solidFill>
              </a:rPr>
              <a:t>Statistical confidence analysis</a:t>
            </a:r>
            <a:endParaRPr lang="en-US" sz="1200" dirty="0"/>
          </a:p>
          <a:p>
            <a:pPr marL="177800" indent="-177800">
              <a:spcAft>
                <a:spcPts val="300"/>
              </a:spcAft>
              <a:buSzPct val="100000"/>
              <a:buChar char="•"/>
            </a:pPr>
            <a:r>
              <a:rPr lang="en-US" sz="1200" dirty="0">
                <a:solidFill>
                  <a:schemeClr val="tx1"/>
                </a:solidFill>
              </a:rPr>
              <a:t>Larger benchmark datasets</a:t>
            </a:r>
            <a:endParaRPr lang="en-US" sz="1200" dirty="0"/>
          </a:p>
          <a:p>
            <a:pPr marL="177800" indent="-177800">
              <a:spcAft>
                <a:spcPts val="300"/>
              </a:spcAft>
              <a:buSzPct val="100000"/>
              <a:buChar char="•"/>
            </a:pPr>
            <a:r>
              <a:rPr lang="en-US" sz="1200" dirty="0">
                <a:solidFill>
                  <a:schemeClr val="tx1"/>
                </a:solidFill>
              </a:rPr>
              <a:t>Improved RAG evaluation</a:t>
            </a:r>
            <a:endParaRPr lang="en-US" sz="1200" dirty="0"/>
          </a:p>
        </p:txBody>
      </p:sp>
      <p:sp>
        <p:nvSpPr>
          <p:cNvPr id="9" name="card-200"/>
          <p:cNvSpPr/>
          <p:nvPr/>
        </p:nvSpPr>
        <p:spPr>
          <a:xfrm>
            <a:off x="457200" y="3200400"/>
            <a:ext cx="2651760" cy="731520"/>
          </a:xfrm>
          <a:prstGeom prst="roundRect">
            <a:avLst>
              <a:gd name="adj" fmla="val 7500"/>
            </a:avLst>
          </a:prstGeom>
          <a:solidFill>
            <a:schemeClr val="bg1"/>
          </a:solidFill>
          <a:ln w="12700">
            <a:solidFill>
              <a:srgbClr val="D5DBE6"/>
            </a:solidFill>
            <a:prstDash val="solid"/>
          </a:ln>
        </p:spPr>
        <p:txBody>
          <a:bodyPr/>
          <a:lstStyle/>
          <a:p>
            <a:endParaRPr lang="en-US"/>
          </a:p>
        </p:txBody>
      </p:sp>
      <p:sp>
        <p:nvSpPr>
          <p:cNvPr id="10" name="text-201"/>
          <p:cNvSpPr txBox="1"/>
          <p:nvPr/>
        </p:nvSpPr>
        <p:spPr>
          <a:xfrm>
            <a:off x="594360" y="3273552"/>
            <a:ext cx="2377440" cy="201168"/>
          </a:xfrm>
          <a:prstGeom prst="rect">
            <a:avLst/>
          </a:prstGeom>
          <a:noFill/>
          <a:ln/>
        </p:spPr>
        <p:txBody>
          <a:bodyPr wrap="square" lIns="0" tIns="0" rIns="0" bIns="0" rtlCol="0" anchor="t"/>
          <a:lstStyle/>
          <a:p>
            <a:pPr marL="0" indent="0">
              <a:buNone/>
            </a:pPr>
            <a:r>
              <a:rPr lang="en-US" sz="1050" b="1" dirty="0">
                <a:solidFill>
                  <a:schemeClr val="accent1"/>
                </a:solidFill>
                <a:latin typeface="Courier New" pitchFamily="34" charset="0"/>
                <a:ea typeface="Courier New" pitchFamily="34" charset="-122"/>
                <a:cs typeface="Courier New" pitchFamily="34" charset="-120"/>
              </a:rPr>
              <a:t>SYSTEMATIC</a:t>
            </a:r>
            <a:endParaRPr lang="en-US" sz="1050" dirty="0"/>
          </a:p>
        </p:txBody>
      </p:sp>
      <p:sp>
        <p:nvSpPr>
          <p:cNvPr id="11" name="text-202"/>
          <p:cNvSpPr txBox="1"/>
          <p:nvPr/>
        </p:nvSpPr>
        <p:spPr>
          <a:xfrm>
            <a:off x="594360" y="3502152"/>
            <a:ext cx="2423160" cy="384048"/>
          </a:xfrm>
          <a:prstGeom prst="rect">
            <a:avLst/>
          </a:prstGeom>
          <a:noFill/>
          <a:ln/>
        </p:spPr>
        <p:txBody>
          <a:bodyPr wrap="square" lIns="0" tIns="0" rIns="0" bIns="0" rtlCol="0" anchor="t"/>
          <a:lstStyle/>
          <a:p>
            <a:pPr marL="0" indent="0">
              <a:buNone/>
            </a:pPr>
            <a:r>
              <a:rPr lang="en-US" sz="1150" dirty="0">
                <a:solidFill>
                  <a:schemeClr val="tx2"/>
                </a:solidFill>
              </a:rPr>
              <a:t>Repeatable evaluation workflows</a:t>
            </a:r>
            <a:endParaRPr lang="en-US" sz="1150" dirty="0"/>
          </a:p>
        </p:txBody>
      </p:sp>
      <p:sp>
        <p:nvSpPr>
          <p:cNvPr id="12" name="card-203"/>
          <p:cNvSpPr/>
          <p:nvPr/>
        </p:nvSpPr>
        <p:spPr>
          <a:xfrm>
            <a:off x="3246120" y="3200400"/>
            <a:ext cx="2651760" cy="731520"/>
          </a:xfrm>
          <a:prstGeom prst="roundRect">
            <a:avLst>
              <a:gd name="adj" fmla="val 7500"/>
            </a:avLst>
          </a:prstGeom>
          <a:solidFill>
            <a:schemeClr val="bg1"/>
          </a:solidFill>
          <a:ln w="12700">
            <a:solidFill>
              <a:srgbClr val="D5DBE6"/>
            </a:solidFill>
            <a:prstDash val="solid"/>
          </a:ln>
        </p:spPr>
        <p:txBody>
          <a:bodyPr/>
          <a:lstStyle/>
          <a:p>
            <a:endParaRPr lang="en-US"/>
          </a:p>
        </p:txBody>
      </p:sp>
      <p:sp>
        <p:nvSpPr>
          <p:cNvPr id="13" name="text-204"/>
          <p:cNvSpPr txBox="1"/>
          <p:nvPr/>
        </p:nvSpPr>
        <p:spPr>
          <a:xfrm>
            <a:off x="3383280" y="3273552"/>
            <a:ext cx="2377440" cy="201168"/>
          </a:xfrm>
          <a:prstGeom prst="rect">
            <a:avLst/>
          </a:prstGeom>
          <a:noFill/>
          <a:ln/>
        </p:spPr>
        <p:txBody>
          <a:bodyPr wrap="square" lIns="0" tIns="0" rIns="0" bIns="0" rtlCol="0" anchor="t"/>
          <a:lstStyle/>
          <a:p>
            <a:pPr marL="0" indent="0">
              <a:buNone/>
            </a:pPr>
            <a:r>
              <a:rPr lang="en-US" sz="1050" b="1" dirty="0">
                <a:solidFill>
                  <a:schemeClr val="accent1"/>
                </a:solidFill>
                <a:latin typeface="Courier New" pitchFamily="34" charset="0"/>
                <a:ea typeface="Courier New" pitchFamily="34" charset="-122"/>
                <a:cs typeface="Courier New" pitchFamily="34" charset="-120"/>
              </a:rPr>
              <a:t>MULTI-DIMENSIONAL</a:t>
            </a:r>
            <a:endParaRPr lang="en-US" sz="1050" dirty="0"/>
          </a:p>
        </p:txBody>
      </p:sp>
      <p:sp>
        <p:nvSpPr>
          <p:cNvPr id="14" name="text-205"/>
          <p:cNvSpPr txBox="1"/>
          <p:nvPr/>
        </p:nvSpPr>
        <p:spPr>
          <a:xfrm>
            <a:off x="3383280" y="3502152"/>
            <a:ext cx="2423160" cy="384048"/>
          </a:xfrm>
          <a:prstGeom prst="rect">
            <a:avLst/>
          </a:prstGeom>
          <a:noFill/>
          <a:ln/>
        </p:spPr>
        <p:txBody>
          <a:bodyPr wrap="square" lIns="0" tIns="0" rIns="0" bIns="0" rtlCol="0" anchor="t"/>
          <a:lstStyle/>
          <a:p>
            <a:pPr marL="0" indent="0">
              <a:buNone/>
            </a:pPr>
            <a:r>
              <a:rPr lang="en-US" sz="1150" dirty="0">
                <a:solidFill>
                  <a:schemeClr val="tx2"/>
                </a:solidFill>
              </a:rPr>
              <a:t>Quality + grounding + latency + cost</a:t>
            </a:r>
            <a:endParaRPr lang="en-US" sz="1150" dirty="0"/>
          </a:p>
        </p:txBody>
      </p:sp>
      <p:sp>
        <p:nvSpPr>
          <p:cNvPr id="15" name="card-206"/>
          <p:cNvSpPr/>
          <p:nvPr/>
        </p:nvSpPr>
        <p:spPr>
          <a:xfrm>
            <a:off x="6035040" y="3200400"/>
            <a:ext cx="2651760" cy="731520"/>
          </a:xfrm>
          <a:prstGeom prst="roundRect">
            <a:avLst>
              <a:gd name="adj" fmla="val 7500"/>
            </a:avLst>
          </a:prstGeom>
          <a:solidFill>
            <a:schemeClr val="bg1"/>
          </a:solidFill>
          <a:ln w="12700">
            <a:solidFill>
              <a:srgbClr val="D5DBE6"/>
            </a:solidFill>
            <a:prstDash val="solid"/>
          </a:ln>
        </p:spPr>
        <p:txBody>
          <a:bodyPr/>
          <a:lstStyle/>
          <a:p>
            <a:endParaRPr lang="en-US"/>
          </a:p>
        </p:txBody>
      </p:sp>
      <p:sp>
        <p:nvSpPr>
          <p:cNvPr id="16" name="text-207"/>
          <p:cNvSpPr txBox="1"/>
          <p:nvPr/>
        </p:nvSpPr>
        <p:spPr>
          <a:xfrm>
            <a:off x="6172200" y="3273552"/>
            <a:ext cx="2377440" cy="201168"/>
          </a:xfrm>
          <a:prstGeom prst="rect">
            <a:avLst/>
          </a:prstGeom>
          <a:noFill/>
          <a:ln/>
        </p:spPr>
        <p:txBody>
          <a:bodyPr wrap="square" lIns="0" tIns="0" rIns="0" bIns="0" rtlCol="0" anchor="t"/>
          <a:lstStyle/>
          <a:p>
            <a:pPr marL="0" indent="0">
              <a:buNone/>
            </a:pPr>
            <a:r>
              <a:rPr lang="en-US" sz="1050" b="1" dirty="0">
                <a:solidFill>
                  <a:schemeClr val="accent1"/>
                </a:solidFill>
                <a:latin typeface="Courier New" pitchFamily="34" charset="0"/>
                <a:ea typeface="Courier New" pitchFamily="34" charset="-122"/>
                <a:cs typeface="Courier New" pitchFamily="34" charset="-120"/>
              </a:rPr>
              <a:t>ACTIONABLE</a:t>
            </a:r>
            <a:endParaRPr lang="en-US" sz="1050" dirty="0"/>
          </a:p>
        </p:txBody>
      </p:sp>
      <p:sp>
        <p:nvSpPr>
          <p:cNvPr id="17" name="text-208"/>
          <p:cNvSpPr txBox="1"/>
          <p:nvPr/>
        </p:nvSpPr>
        <p:spPr>
          <a:xfrm>
            <a:off x="6172200" y="3502152"/>
            <a:ext cx="2423160" cy="384048"/>
          </a:xfrm>
          <a:prstGeom prst="rect">
            <a:avLst/>
          </a:prstGeom>
          <a:noFill/>
          <a:ln/>
        </p:spPr>
        <p:txBody>
          <a:bodyPr wrap="square" lIns="0" tIns="0" rIns="0" bIns="0" rtlCol="0" anchor="t"/>
          <a:lstStyle/>
          <a:p>
            <a:pPr marL="0" indent="0">
              <a:buNone/>
            </a:pPr>
            <a:r>
              <a:rPr lang="en-US" sz="1150" dirty="0">
                <a:solidFill>
                  <a:schemeClr val="tx2"/>
                </a:solidFill>
              </a:rPr>
              <a:t>Results that support model and prompt decisions</a:t>
            </a:r>
            <a:endParaRPr lang="en-US" sz="1150" dirty="0"/>
          </a:p>
        </p:txBody>
      </p:sp>
      <p:sp>
        <p:nvSpPr>
          <p:cNvPr id="18" name="card-209"/>
          <p:cNvSpPr/>
          <p:nvPr/>
        </p:nvSpPr>
        <p:spPr>
          <a:xfrm>
            <a:off x="457200" y="4114800"/>
            <a:ext cx="8229600" cy="566928"/>
          </a:xfrm>
          <a:prstGeom prst="roundRect">
            <a:avLst>
              <a:gd name="adj" fmla="val 9677"/>
            </a:avLst>
          </a:prstGeom>
          <a:solidFill>
            <a:schemeClr val="tx1"/>
          </a:solidFill>
          <a:ln w="12700">
            <a:solidFill>
              <a:schemeClr val="tx1"/>
            </a:solidFill>
            <a:prstDash val="solid"/>
          </a:ln>
        </p:spPr>
        <p:txBody>
          <a:bodyPr/>
          <a:lstStyle/>
          <a:p>
            <a:endParaRPr lang="en-US"/>
          </a:p>
        </p:txBody>
      </p:sp>
      <p:sp>
        <p:nvSpPr>
          <p:cNvPr id="19" name="text-210"/>
          <p:cNvSpPr txBox="1"/>
          <p:nvPr/>
        </p:nvSpPr>
        <p:spPr>
          <a:xfrm>
            <a:off x="640080" y="4114800"/>
            <a:ext cx="5760720" cy="566928"/>
          </a:xfrm>
          <a:prstGeom prst="rect">
            <a:avLst/>
          </a:prstGeom>
          <a:noFill/>
          <a:ln/>
        </p:spPr>
        <p:txBody>
          <a:bodyPr wrap="square" lIns="0" tIns="0" rIns="0" bIns="0" rtlCol="0" anchor="ctr"/>
          <a:lstStyle/>
          <a:p>
            <a:pPr marL="0" indent="0">
              <a:buNone/>
            </a:pPr>
            <a:r>
              <a:rPr lang="en-US" sz="1300" b="1" dirty="0">
                <a:solidFill>
                  <a:schemeClr val="bg1"/>
                </a:solidFill>
              </a:rPr>
              <a:t>PromptBench turns LLM evaluation from ad-hoc inspection into a repeatable workflow.</a:t>
            </a:r>
            <a:endParaRPr lang="en-US" sz="1300" dirty="0"/>
          </a:p>
        </p:txBody>
      </p:sp>
      <p:sp>
        <p:nvSpPr>
          <p:cNvPr id="20" name="text-211"/>
          <p:cNvSpPr txBox="1"/>
          <p:nvPr/>
        </p:nvSpPr>
        <p:spPr>
          <a:xfrm>
            <a:off x="6492240" y="4114800"/>
            <a:ext cx="2011680" cy="566928"/>
          </a:xfrm>
          <a:prstGeom prst="rect">
            <a:avLst/>
          </a:prstGeom>
          <a:noFill/>
          <a:ln/>
        </p:spPr>
        <p:txBody>
          <a:bodyPr wrap="square" lIns="0" tIns="0" rIns="0" bIns="0" rtlCol="0" anchor="ctr"/>
          <a:lstStyle/>
          <a:p>
            <a:pPr marL="0" indent="0" algn="r">
              <a:buNone/>
            </a:pPr>
            <a:r>
              <a:rPr lang="en-US" sz="1400" b="1" dirty="0">
                <a:solidFill>
                  <a:srgbClr val="7FA6F5"/>
                </a:solidFill>
              </a:rPr>
              <a:t>Thank you  ·  Questions?</a:t>
            </a:r>
            <a:endParaRPr lang="en-US" sz="14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94A3B8"/>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37D7DB2-BF2C-9E5A-3280-F0F187A6E053}"/>
              </a:ext>
            </a:extLst>
          </p:cNvPr>
          <p:cNvSpPr txBox="1"/>
          <p:nvPr/>
        </p:nvSpPr>
        <p:spPr>
          <a:xfrm>
            <a:off x="1371600" y="1997612"/>
            <a:ext cx="6168683" cy="769441"/>
          </a:xfrm>
          <a:prstGeom prst="rect">
            <a:avLst/>
          </a:prstGeom>
          <a:noFill/>
        </p:spPr>
        <p:txBody>
          <a:bodyPr wrap="square" rtlCol="0">
            <a:spAutoFit/>
          </a:bodyPr>
          <a:lstStyle/>
          <a:p>
            <a:r>
              <a:rPr lang="en-US" sz="4400" dirty="0"/>
              <a:t>               Thank you</a:t>
            </a:r>
          </a:p>
        </p:txBody>
      </p:sp>
    </p:spTree>
    <p:extLst>
      <p:ext uri="{BB962C8B-B14F-4D97-AF65-F5344CB8AC3E}">
        <p14:creationId xmlns:p14="http://schemas.microsoft.com/office/powerpoint/2010/main" val="2741439673"/>
      </p:ext>
    </p:extLst>
  </p:cSld>
  <p:clrMapOvr>
    <a:masterClrMapping/>
  </p:clrMapOvr>
</p:sld>
</file>

<file path=ppt/theme/theme1.xml><?xml version="1.0" encoding="utf-8"?>
<a:theme xmlns:a="http://schemas.openxmlformats.org/drawingml/2006/main" name="PromptBench Research">
  <a:themeElements>
    <a:clrScheme name="PromptBench Research">
      <a:dk1>
        <a:srgbClr val="0B1220"/>
      </a:dk1>
      <a:lt1>
        <a:srgbClr val="FFFFFF"/>
      </a:lt1>
      <a:dk2>
        <a:srgbClr val="1E293B"/>
      </a:dk2>
      <a:lt2>
        <a:srgbClr val="F6F7FB"/>
      </a:lt2>
      <a:accent1>
        <a:srgbClr val="2F6FEB"/>
      </a:accent1>
      <a:accent2>
        <a:srgbClr val="7C5CE0"/>
      </a:accent2>
      <a:accent3>
        <a:srgbClr val="0E9F8E"/>
      </a:accent3>
      <a:accent4>
        <a:srgbClr val="D98E04"/>
      </a:accent4>
      <a:accent5>
        <a:srgbClr val="64748B"/>
      </a:accent5>
      <a:accent6>
        <a:srgbClr val="C0392B"/>
      </a:accent6>
      <a:hlink>
        <a:srgbClr val="2F6FEB"/>
      </a:hlink>
      <a:folHlink>
        <a:srgbClr val="7C5CE0"/>
      </a:folHlink>
    </a:clrScheme>
    <a:fontScheme name="PromptBench Research">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TotalTime>
  <Words>1038</Words>
  <Application>Microsoft Office PowerPoint</Application>
  <PresentationFormat>On-screen Show (16:9)</PresentationFormat>
  <Paragraphs>199</Paragraphs>
  <Slides>9</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Courier New</vt:lpstr>
      <vt:lpstr>PromptBench Research</vt:lpstr>
      <vt:lpstr>PromptBench</vt:lpstr>
      <vt:lpstr>Why LLM Evaluation Is Difficult</vt:lpstr>
      <vt:lpstr>Introducing PromptBench</vt:lpstr>
      <vt:lpstr>PromptBench Architecture</vt:lpstr>
      <vt:lpstr>How PromptBench Evaluates Responses</vt:lpstr>
      <vt:lpstr>Beyond Exact-Match Metrics</vt:lpstr>
      <vt:lpstr>From Results to Decisions</vt:lpstr>
      <vt:lpstr>Limitations, Future Work &amp; Contribution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PromptBench</dc:title>
  <dc:subject>PptxGenJS Presentation</dc:subject>
  <dc:creator>PptxGenJS</dc:creator>
  <cp:lastModifiedBy>Potukuchi Bindu 2420090092</cp:lastModifiedBy>
  <cp:revision>2</cp:revision>
  <dcterms:created xsi:type="dcterms:W3CDTF">2026-10-27T08:37:07Z</dcterms:created>
  <dcterms:modified xsi:type="dcterms:W3CDTF">2026-10-27T08:54:34Z</dcterms:modified>
</cp:coreProperties>
</file>